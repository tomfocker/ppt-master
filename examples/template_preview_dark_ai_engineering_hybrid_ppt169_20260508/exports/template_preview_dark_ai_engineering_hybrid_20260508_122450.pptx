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 dark_ai_engineering_hybrid 的封面样例。背景是不可编辑的视觉层，标题和说明是可编辑的 SVG 文本。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这一页展示混合模板如何承载架构图。背景负责氛围，架构节点、连线和标签都可以在 PowerPoint 中继续调整。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这一页展示指标面板。数字、标题、图表线条和进度条都是可编辑元素，背景只提供质感。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" y="0"/>
            <a:ext cx="1218533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>
              <a:alpha val="12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19150" y="1790700"/>
            <a:ext cx="66675" cy="23241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12520" y="1960245"/>
            <a:ext cx="3777220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Hybrid Visual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2520" y="2550795"/>
            <a:ext cx="368750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暗色工程模板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0145" y="3346132"/>
            <a:ext cx="37530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原生生图背景 + 可编辑 SVG 信息层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5860" y="3890010"/>
            <a:ext cx="25055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AI 安全 · 系统架构 · 研发复盘</a:t>
            </a:r>
          </a:p>
        </p:txBody>
      </p:sp>
      <p:sp>
        <p:nvSpPr>
          <p:cNvPr id="9" name="Line 9"/>
          <p:cNvSpPr/>
          <p:nvPr/>
        </p:nvSpPr>
        <p:spPr>
          <a:xfrm>
            <a:off x="819150" y="58102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9525">
            <a:solidFill>
              <a:srgbClr val="2430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06768" y="6105049"/>
            <a:ext cx="807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2026-05-08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18197" y="6105049"/>
            <a:ext cx="11568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PPT Master Fork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" y="0"/>
            <a:ext cx="1218533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>
              <a:alpha val="1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8635" y="341948"/>
            <a:ext cx="333894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架构页：三层安全控制器</a:t>
            </a:r>
          </a:p>
        </p:txBody>
      </p:sp>
      <p:sp>
        <p:nvSpPr>
          <p:cNvPr id="5" name="Freeform 5"/>
          <p:cNvSpPr/>
          <p:nvPr/>
        </p:nvSpPr>
        <p:spPr>
          <a:xfrm>
            <a:off x="533400" y="800100"/>
            <a:ext cx="11125200" cy="552450"/>
          </a:xfrm>
          <a:custGeom>
            <a:avLst/>
            <a:gdLst/>
            <a:ahLst/>
            <a:cxnLst/>
            <a:rect l="l" t="t" r="r" b="b"/>
            <a:pathLst>
              <a:path w="11125200" h="552450">
                <a:moveTo>
                  <a:pt x="76200" y="0"/>
                </a:moveTo>
                <a:lnTo>
                  <a:pt x="11049000" y="0"/>
                </a:lnTo>
                <a:cubicBezTo>
                  <a:pt x="11091084" y="0"/>
                  <a:pt x="11125200" y="34116"/>
                  <a:pt x="11125200" y="76200"/>
                </a:cubicBezTo>
                <a:lnTo>
                  <a:pt x="11125200" y="476250"/>
                </a:lnTo>
                <a:cubicBezTo>
                  <a:pt x="11125200" y="518334"/>
                  <a:pt x="11091084" y="552450"/>
                  <a:pt x="11049000" y="552450"/>
                </a:cubicBezTo>
                <a:lnTo>
                  <a:pt x="76200" y="552450"/>
                </a:lnTo>
                <a:cubicBezTo>
                  <a:pt x="34116" y="552450"/>
                  <a:pt x="0" y="518334"/>
                  <a:pt x="0" y="4762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58A6FF">
              <a:alpha val="95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33400" y="800100"/>
            <a:ext cx="66675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1006792"/>
            <a:ext cx="50029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背景负责空间和质感；节点、连线、标签保持可编辑。</a:t>
            </a:r>
          </a:p>
        </p:txBody>
      </p:sp>
      <p:sp>
        <p:nvSpPr>
          <p:cNvPr id="8" name="Freeform 8"/>
          <p:cNvSpPr/>
          <p:nvPr/>
        </p:nvSpPr>
        <p:spPr>
          <a:xfrm>
            <a:off x="704850" y="1752600"/>
            <a:ext cx="2857500" cy="2819400"/>
          </a:xfrm>
          <a:custGeom>
            <a:avLst/>
            <a:gdLst/>
            <a:ahLst/>
            <a:cxnLst/>
            <a:rect l="l" t="t" r="r" b="b"/>
            <a:pathLst>
              <a:path w="2857500" h="2819400">
                <a:moveTo>
                  <a:pt x="152400" y="0"/>
                </a:moveTo>
                <a:lnTo>
                  <a:pt x="2705100" y="0"/>
                </a:lnTo>
                <a:cubicBezTo>
                  <a:pt x="2789268" y="0"/>
                  <a:pt x="2857500" y="68232"/>
                  <a:pt x="2857500" y="152400"/>
                </a:cubicBezTo>
                <a:lnTo>
                  <a:pt x="2857500" y="2667000"/>
                </a:lnTo>
                <a:cubicBezTo>
                  <a:pt x="2857500" y="2751168"/>
                  <a:pt x="2789268" y="2819400"/>
                  <a:pt x="2705100" y="2819400"/>
                </a:cubicBezTo>
                <a:lnTo>
                  <a:pt x="152400" y="2819400"/>
                </a:lnTo>
                <a:cubicBezTo>
                  <a:pt x="68232" y="2819400"/>
                  <a:pt x="0" y="2751168"/>
                  <a:pt x="0" y="26670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F172A">
              <a:alpha val="82000"/>
            </a:srgbClr>
          </a:solidFill>
          <a:ln w="9525">
            <a:solidFill>
              <a:srgbClr val="243044">
                <a:alpha val="82000"/>
              </a:srgbClr>
            </a:solidFill>
          </a:ln>
        </p:spPr>
      </p:sp>
      <p:sp>
        <p:nvSpPr>
          <p:cNvPr id="9" name="Freeform 9"/>
          <p:cNvSpPr/>
          <p:nvPr/>
        </p:nvSpPr>
        <p:spPr>
          <a:xfrm>
            <a:off x="4667250" y="1752600"/>
            <a:ext cx="2857500" cy="2819400"/>
          </a:xfrm>
          <a:custGeom>
            <a:avLst/>
            <a:gdLst/>
            <a:ahLst/>
            <a:cxnLst/>
            <a:rect l="l" t="t" r="r" b="b"/>
            <a:pathLst>
              <a:path w="2857500" h="2819400">
                <a:moveTo>
                  <a:pt x="152400" y="0"/>
                </a:moveTo>
                <a:lnTo>
                  <a:pt x="2705100" y="0"/>
                </a:lnTo>
                <a:cubicBezTo>
                  <a:pt x="2789268" y="0"/>
                  <a:pt x="2857500" y="68232"/>
                  <a:pt x="2857500" y="152400"/>
                </a:cubicBezTo>
                <a:lnTo>
                  <a:pt x="2857500" y="2667000"/>
                </a:lnTo>
                <a:cubicBezTo>
                  <a:pt x="2857500" y="2751168"/>
                  <a:pt x="2789268" y="2819400"/>
                  <a:pt x="2705100" y="2819400"/>
                </a:cubicBezTo>
                <a:lnTo>
                  <a:pt x="152400" y="2819400"/>
                </a:lnTo>
                <a:cubicBezTo>
                  <a:pt x="68232" y="2819400"/>
                  <a:pt x="0" y="2751168"/>
                  <a:pt x="0" y="26670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F172A">
              <a:alpha val="82000"/>
            </a:srgbClr>
          </a:solidFill>
          <a:ln w="9525">
            <a:solidFill>
              <a:srgbClr val="243044">
                <a:alpha val="82000"/>
              </a:srgbClr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8629650" y="1752600"/>
            <a:ext cx="2857500" cy="2819400"/>
          </a:xfrm>
          <a:custGeom>
            <a:avLst/>
            <a:gdLst/>
            <a:ahLst/>
            <a:cxnLst/>
            <a:rect l="l" t="t" r="r" b="b"/>
            <a:pathLst>
              <a:path w="2857500" h="2819400">
                <a:moveTo>
                  <a:pt x="152400" y="0"/>
                </a:moveTo>
                <a:lnTo>
                  <a:pt x="2705100" y="0"/>
                </a:lnTo>
                <a:cubicBezTo>
                  <a:pt x="2789268" y="0"/>
                  <a:pt x="2857500" y="68232"/>
                  <a:pt x="2857500" y="152400"/>
                </a:cubicBezTo>
                <a:lnTo>
                  <a:pt x="2857500" y="2667000"/>
                </a:lnTo>
                <a:cubicBezTo>
                  <a:pt x="2857500" y="2751168"/>
                  <a:pt x="2789268" y="2819400"/>
                  <a:pt x="2705100" y="2819400"/>
                </a:cubicBezTo>
                <a:lnTo>
                  <a:pt x="152400" y="2819400"/>
                </a:lnTo>
                <a:cubicBezTo>
                  <a:pt x="68232" y="2819400"/>
                  <a:pt x="0" y="2751168"/>
                  <a:pt x="0" y="26670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F172A">
              <a:alpha val="82000"/>
            </a:srgbClr>
          </a:solidFill>
          <a:ln w="9525">
            <a:solidFill>
              <a:srgbClr val="243044">
                <a:alpha val="82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3562350" y="3162300"/>
            <a:ext cx="1104900" cy="9525"/>
          </a:xfrm>
          <a:custGeom>
            <a:avLst/>
            <a:gdLst/>
            <a:ahLst/>
            <a:cxnLst/>
            <a:rect l="l" t="t" r="r" b="b"/>
            <a:pathLst>
              <a:path w="1104900" h="9525">
                <a:moveTo>
                  <a:pt x="0" y="0"/>
                </a:moveTo>
                <a:lnTo>
                  <a:pt x="110490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  <p:sp>
        <p:nvSpPr>
          <p:cNvPr id="12" name="Line 12"/>
          <p:cNvSpPr/>
          <p:nvPr/>
        </p:nvSpPr>
        <p:spPr>
          <a:xfrm>
            <a:off x="7524750" y="3162300"/>
            <a:ext cx="1104900" cy="9525"/>
          </a:xfrm>
          <a:custGeom>
            <a:avLst/>
            <a:gdLst/>
            <a:ahLst/>
            <a:cxnLst/>
            <a:rect l="l" t="t" r="r" b="b"/>
            <a:pathLst>
              <a:path w="1104900" h="9525">
                <a:moveTo>
                  <a:pt x="0" y="0"/>
                </a:moveTo>
                <a:lnTo>
                  <a:pt x="1104900" y="0"/>
                </a:lnTo>
              </a:path>
            </a:pathLst>
          </a:custGeom>
          <a:noFill/>
          <a:ln w="28575">
            <a:solidFill>
              <a:srgbClr val="58A6FF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4057650" y="3105150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8020050" y="3105150"/>
            <a:ext cx="114300" cy="1143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88695" y="2088832"/>
            <a:ext cx="13450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01 输入探针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51095" y="2088832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02 权限分层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13495" y="2088832"/>
            <a:ext cx="16613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03 动作分类器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5362" y="2717006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扫描文件、网页、命令输出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5362" y="3098006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标记注入与越权线索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5362" y="3479006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给上下文添加风险提示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57762" y="271700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安全读取直接放行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57762" y="3098006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项目内编辑依赖版本控制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57762" y="347900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外部动作进入判定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20162" y="2717006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快速过滤常规请求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20162" y="3098006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必要时深度推理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20162" y="3479006"/>
            <a:ext cx="17209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输出允许 / 确认 / 阻断</a:t>
            </a:r>
          </a:p>
        </p:txBody>
      </p:sp>
      <p:sp>
        <p:nvSpPr>
          <p:cNvPr id="27" name="Line 27"/>
          <p:cNvSpPr/>
          <p:nvPr/>
        </p:nvSpPr>
        <p:spPr>
          <a:xfrm>
            <a:off x="533400" y="60960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243044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23875" y="6376988"/>
            <a:ext cx="17661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Source: hybrid template preview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02580" y="63607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" y="0"/>
            <a:ext cx="1218533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>
              <a:alpha val="1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8635" y="341948"/>
            <a:ext cx="393701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指标页：低摩擦权限控制面板</a:t>
            </a:r>
          </a:p>
        </p:txBody>
      </p:sp>
      <p:sp>
        <p:nvSpPr>
          <p:cNvPr id="5" name="Freeform 5"/>
          <p:cNvSpPr/>
          <p:nvPr/>
        </p:nvSpPr>
        <p:spPr>
          <a:xfrm>
            <a:off x="533400" y="800100"/>
            <a:ext cx="11125200" cy="552450"/>
          </a:xfrm>
          <a:custGeom>
            <a:avLst/>
            <a:gdLst/>
            <a:ahLst/>
            <a:cxnLst/>
            <a:rect l="l" t="t" r="r" b="b"/>
            <a:pathLst>
              <a:path w="11125200" h="552450">
                <a:moveTo>
                  <a:pt x="76200" y="0"/>
                </a:moveTo>
                <a:lnTo>
                  <a:pt x="11049000" y="0"/>
                </a:lnTo>
                <a:cubicBezTo>
                  <a:pt x="11091084" y="0"/>
                  <a:pt x="11125200" y="34116"/>
                  <a:pt x="11125200" y="76200"/>
                </a:cubicBezTo>
                <a:lnTo>
                  <a:pt x="11125200" y="476250"/>
                </a:lnTo>
                <a:cubicBezTo>
                  <a:pt x="11125200" y="518334"/>
                  <a:pt x="11091084" y="552450"/>
                  <a:pt x="11049000" y="552450"/>
                </a:cubicBezTo>
                <a:lnTo>
                  <a:pt x="76200" y="552450"/>
                </a:lnTo>
                <a:cubicBezTo>
                  <a:pt x="34116" y="552450"/>
                  <a:pt x="0" y="518334"/>
                  <a:pt x="0" y="4762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58A6FF">
              <a:alpha val="95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33400" y="800100"/>
            <a:ext cx="66675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1006792"/>
            <a:ext cx="52099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数字、图表、进度条都是可编辑层，背景只负责高级感。</a:t>
            </a:r>
          </a:p>
        </p:txBody>
      </p:sp>
      <p:sp>
        <p:nvSpPr>
          <p:cNvPr id="8" name="Freeform 8"/>
          <p:cNvSpPr/>
          <p:nvPr/>
        </p:nvSpPr>
        <p:spPr>
          <a:xfrm>
            <a:off x="628650" y="1695450"/>
            <a:ext cx="2381250" cy="1257300"/>
          </a:xfrm>
          <a:custGeom>
            <a:avLst/>
            <a:gdLst/>
            <a:ahLst/>
            <a:cxnLst/>
            <a:rect l="l" t="t" r="r" b="b"/>
            <a:pathLst>
              <a:path w="2381250" h="1257300">
                <a:moveTo>
                  <a:pt x="133350" y="0"/>
                </a:moveTo>
                <a:lnTo>
                  <a:pt x="2247900" y="0"/>
                </a:lnTo>
                <a:cubicBezTo>
                  <a:pt x="2321547" y="0"/>
                  <a:pt x="2381250" y="59703"/>
                  <a:pt x="2381250" y="133350"/>
                </a:cubicBezTo>
                <a:lnTo>
                  <a:pt x="2381250" y="1123950"/>
                </a:lnTo>
                <a:cubicBezTo>
                  <a:pt x="2381250" y="1197597"/>
                  <a:pt x="2321547" y="1257300"/>
                  <a:pt x="2247900" y="1257300"/>
                </a:cubicBezTo>
                <a:lnTo>
                  <a:pt x="133350" y="1257300"/>
                </a:lnTo>
                <a:cubicBezTo>
                  <a:pt x="59703" y="1257300"/>
                  <a:pt x="0" y="1197597"/>
                  <a:pt x="0" y="11239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F172A">
              <a:alpha val="84000"/>
            </a:srgbClr>
          </a:solidFill>
          <a:ln w="9525">
            <a:solidFill>
              <a:srgbClr val="243044">
                <a:alpha val="84000"/>
              </a:srgbClr>
            </a:solidFill>
          </a:ln>
        </p:spPr>
      </p:sp>
      <p:sp>
        <p:nvSpPr>
          <p:cNvPr id="9" name="Freeform 9"/>
          <p:cNvSpPr/>
          <p:nvPr/>
        </p:nvSpPr>
        <p:spPr>
          <a:xfrm>
            <a:off x="3333750" y="1695450"/>
            <a:ext cx="2381250" cy="1257300"/>
          </a:xfrm>
          <a:custGeom>
            <a:avLst/>
            <a:gdLst/>
            <a:ahLst/>
            <a:cxnLst/>
            <a:rect l="l" t="t" r="r" b="b"/>
            <a:pathLst>
              <a:path w="2381250" h="1257300">
                <a:moveTo>
                  <a:pt x="133350" y="0"/>
                </a:moveTo>
                <a:lnTo>
                  <a:pt x="2247900" y="0"/>
                </a:lnTo>
                <a:cubicBezTo>
                  <a:pt x="2321547" y="0"/>
                  <a:pt x="2381250" y="59703"/>
                  <a:pt x="2381250" y="133350"/>
                </a:cubicBezTo>
                <a:lnTo>
                  <a:pt x="2381250" y="1123950"/>
                </a:lnTo>
                <a:cubicBezTo>
                  <a:pt x="2381250" y="1197597"/>
                  <a:pt x="2321547" y="1257300"/>
                  <a:pt x="2247900" y="1257300"/>
                </a:cubicBezTo>
                <a:lnTo>
                  <a:pt x="133350" y="1257300"/>
                </a:lnTo>
                <a:cubicBezTo>
                  <a:pt x="59703" y="1257300"/>
                  <a:pt x="0" y="1197597"/>
                  <a:pt x="0" y="11239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F172A">
              <a:alpha val="84000"/>
            </a:srgbClr>
          </a:solidFill>
          <a:ln w="9525">
            <a:solidFill>
              <a:srgbClr val="243044">
                <a:alpha val="84000"/>
              </a:srgbClr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6038850" y="1695450"/>
            <a:ext cx="2381250" cy="1257300"/>
          </a:xfrm>
          <a:custGeom>
            <a:avLst/>
            <a:gdLst/>
            <a:ahLst/>
            <a:cxnLst/>
            <a:rect l="l" t="t" r="r" b="b"/>
            <a:pathLst>
              <a:path w="2381250" h="1257300">
                <a:moveTo>
                  <a:pt x="133350" y="0"/>
                </a:moveTo>
                <a:lnTo>
                  <a:pt x="2247900" y="0"/>
                </a:lnTo>
                <a:cubicBezTo>
                  <a:pt x="2321547" y="0"/>
                  <a:pt x="2381250" y="59703"/>
                  <a:pt x="2381250" y="133350"/>
                </a:cubicBezTo>
                <a:lnTo>
                  <a:pt x="2381250" y="1123950"/>
                </a:lnTo>
                <a:cubicBezTo>
                  <a:pt x="2381250" y="1197597"/>
                  <a:pt x="2321547" y="1257300"/>
                  <a:pt x="2247900" y="1257300"/>
                </a:cubicBezTo>
                <a:lnTo>
                  <a:pt x="133350" y="1257300"/>
                </a:lnTo>
                <a:cubicBezTo>
                  <a:pt x="59703" y="1257300"/>
                  <a:pt x="0" y="1197597"/>
                  <a:pt x="0" y="11239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F172A">
              <a:alpha val="84000"/>
            </a:srgbClr>
          </a:solidFill>
          <a:ln w="9525">
            <a:solidFill>
              <a:srgbClr val="243044">
                <a:alpha val="84000"/>
              </a:srgbClr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8743950" y="1695450"/>
            <a:ext cx="2381250" cy="1257300"/>
          </a:xfrm>
          <a:custGeom>
            <a:avLst/>
            <a:gdLst/>
            <a:ahLst/>
            <a:cxnLst/>
            <a:rect l="l" t="t" r="r" b="b"/>
            <a:pathLst>
              <a:path w="2381250" h="1257300">
                <a:moveTo>
                  <a:pt x="133350" y="0"/>
                </a:moveTo>
                <a:lnTo>
                  <a:pt x="2247900" y="0"/>
                </a:lnTo>
                <a:cubicBezTo>
                  <a:pt x="2321547" y="0"/>
                  <a:pt x="2381250" y="59703"/>
                  <a:pt x="2381250" y="133350"/>
                </a:cubicBezTo>
                <a:lnTo>
                  <a:pt x="2381250" y="1123950"/>
                </a:lnTo>
                <a:cubicBezTo>
                  <a:pt x="2381250" y="1197597"/>
                  <a:pt x="2321547" y="1257300"/>
                  <a:pt x="2247900" y="1257300"/>
                </a:cubicBezTo>
                <a:lnTo>
                  <a:pt x="133350" y="1257300"/>
                </a:lnTo>
                <a:cubicBezTo>
                  <a:pt x="59703" y="1257300"/>
                  <a:pt x="0" y="1197597"/>
                  <a:pt x="0" y="11239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F172A">
              <a:alpha val="84000"/>
            </a:srgbClr>
          </a:solidFill>
          <a:ln w="9525">
            <a:solidFill>
              <a:srgbClr val="243044">
                <a:alpha val="84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01065" y="20012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误报率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4395" y="2250758"/>
            <a:ext cx="114274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34D399"/>
                </a:solidFill>
                <a:latin typeface="Arial"/>
                <a:ea typeface="Microsoft YaHei"/>
                <a:cs typeface="Arial"/>
              </a:rPr>
              <a:t>0.4%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06165" y="20012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拦截覆盖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79495" y="2250758"/>
            <a:ext cx="87706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83%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11265" y="20012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延迟影响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84595" y="2250758"/>
            <a:ext cx="56307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低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16365" y="20012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权限层级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89695" y="2250758"/>
            <a:ext cx="34569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0" name="Freeform 20"/>
          <p:cNvSpPr/>
          <p:nvPr/>
        </p:nvSpPr>
        <p:spPr>
          <a:xfrm>
            <a:off x="628650" y="3333750"/>
            <a:ext cx="5124450" cy="2000250"/>
          </a:xfrm>
          <a:custGeom>
            <a:avLst/>
            <a:gdLst/>
            <a:ahLst/>
            <a:cxnLst/>
            <a:rect l="l" t="t" r="r" b="b"/>
            <a:pathLst>
              <a:path w="5124450" h="2000250">
                <a:moveTo>
                  <a:pt x="133350" y="0"/>
                </a:moveTo>
                <a:lnTo>
                  <a:pt x="4991100" y="0"/>
                </a:lnTo>
                <a:cubicBezTo>
                  <a:pt x="5064747" y="0"/>
                  <a:pt x="5124450" y="59703"/>
                  <a:pt x="5124450" y="133350"/>
                </a:cubicBezTo>
                <a:lnTo>
                  <a:pt x="5124450" y="1866900"/>
                </a:lnTo>
                <a:cubicBezTo>
                  <a:pt x="5124450" y="1940547"/>
                  <a:pt x="5064747" y="2000250"/>
                  <a:pt x="4991100" y="2000250"/>
                </a:cubicBezTo>
                <a:lnTo>
                  <a:pt x="133350" y="2000250"/>
                </a:lnTo>
                <a:cubicBezTo>
                  <a:pt x="59703" y="2000250"/>
                  <a:pt x="0" y="1940547"/>
                  <a:pt x="0" y="1866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F172A">
              <a:alpha val="84000"/>
            </a:srgbClr>
          </a:solidFill>
          <a:ln w="9525">
            <a:solidFill>
              <a:srgbClr val="243044">
                <a:alpha val="84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14400" y="36290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风险动作趋势</a:t>
            </a:r>
          </a:p>
        </p:txBody>
      </p:sp>
      <p:sp>
        <p:nvSpPr>
          <p:cNvPr id="22" name="Polyline 22"/>
          <p:cNvSpPr/>
          <p:nvPr/>
        </p:nvSpPr>
        <p:spPr>
          <a:xfrm>
            <a:off x="1047750" y="3695700"/>
            <a:ext cx="4248150" cy="1200150"/>
          </a:xfrm>
          <a:custGeom>
            <a:avLst/>
            <a:gdLst/>
            <a:ahLst/>
            <a:cxnLst/>
            <a:rect l="l" t="t" r="r" b="b"/>
            <a:pathLst>
              <a:path w="4248150" h="1200150">
                <a:moveTo>
                  <a:pt x="0" y="1200150"/>
                </a:moveTo>
                <a:lnTo>
                  <a:pt x="704850" y="971550"/>
                </a:lnTo>
                <a:lnTo>
                  <a:pt x="1409700" y="1085850"/>
                </a:lnTo>
                <a:lnTo>
                  <a:pt x="2114550" y="609600"/>
                </a:lnTo>
                <a:lnTo>
                  <a:pt x="2819400" y="704850"/>
                </a:lnTo>
                <a:lnTo>
                  <a:pt x="3524250" y="247650"/>
                </a:lnTo>
                <a:lnTo>
                  <a:pt x="4248150" y="0"/>
                </a:lnTo>
              </a:path>
            </a:pathLst>
          </a:custGeom>
          <a:noFill/>
          <a:ln w="38100">
            <a:solidFill>
              <a:srgbClr val="22D3EE"/>
            </a:solidFill>
          </a:ln>
        </p:spPr>
      </p:sp>
      <p:sp>
        <p:nvSpPr>
          <p:cNvPr id="23" name="Polyline 23"/>
          <p:cNvSpPr/>
          <p:nvPr/>
        </p:nvSpPr>
        <p:spPr>
          <a:xfrm>
            <a:off x="1047750" y="3714750"/>
            <a:ext cx="4248150" cy="628650"/>
          </a:xfrm>
          <a:custGeom>
            <a:avLst/>
            <a:gdLst/>
            <a:ahLst/>
            <a:cxnLst/>
            <a:rect l="l" t="t" r="r" b="b"/>
            <a:pathLst>
              <a:path w="4248150" h="628650">
                <a:moveTo>
                  <a:pt x="0" y="628650"/>
                </a:moveTo>
                <a:lnTo>
                  <a:pt x="704850" y="533400"/>
                </a:lnTo>
                <a:lnTo>
                  <a:pt x="1409700" y="457200"/>
                </a:lnTo>
                <a:lnTo>
                  <a:pt x="2114550" y="323850"/>
                </a:lnTo>
                <a:lnTo>
                  <a:pt x="2819400" y="228600"/>
                </a:lnTo>
                <a:lnTo>
                  <a:pt x="3524250" y="133350"/>
                </a:lnTo>
                <a:lnTo>
                  <a:pt x="4248150" y="0"/>
                </a:lnTo>
              </a:path>
            </a:pathLst>
          </a:custGeom>
          <a:noFill/>
          <a:ln w="28575">
            <a:solidFill>
              <a:srgbClr val="58A6FF">
                <a:alpha val="72000"/>
              </a:srgbClr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6134100" y="3333750"/>
            <a:ext cx="4991100" cy="2000250"/>
          </a:xfrm>
          <a:custGeom>
            <a:avLst/>
            <a:gdLst/>
            <a:ahLst/>
            <a:cxnLst/>
            <a:rect l="l" t="t" r="r" b="b"/>
            <a:pathLst>
              <a:path w="4991100" h="2000250">
                <a:moveTo>
                  <a:pt x="133350" y="0"/>
                </a:moveTo>
                <a:lnTo>
                  <a:pt x="4857750" y="0"/>
                </a:lnTo>
                <a:cubicBezTo>
                  <a:pt x="4931397" y="0"/>
                  <a:pt x="4991100" y="59703"/>
                  <a:pt x="4991100" y="133350"/>
                </a:cubicBezTo>
                <a:lnTo>
                  <a:pt x="4991100" y="1866900"/>
                </a:lnTo>
                <a:cubicBezTo>
                  <a:pt x="4991100" y="1940547"/>
                  <a:pt x="4931397" y="2000250"/>
                  <a:pt x="4857750" y="2000250"/>
                </a:cubicBezTo>
                <a:lnTo>
                  <a:pt x="133350" y="2000250"/>
                </a:lnTo>
                <a:cubicBezTo>
                  <a:pt x="59703" y="2000250"/>
                  <a:pt x="0" y="1940547"/>
                  <a:pt x="0" y="1866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F172A">
              <a:alpha val="84000"/>
            </a:srgbClr>
          </a:solidFill>
          <a:ln w="9525">
            <a:solidFill>
              <a:srgbClr val="243044">
                <a:alpha val="84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419850" y="36290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权限分层状态</a:t>
            </a:r>
          </a:p>
        </p:txBody>
      </p:sp>
      <p:sp>
        <p:nvSpPr>
          <p:cNvPr id="26" name="Freeform 26"/>
          <p:cNvSpPr/>
          <p:nvPr/>
        </p:nvSpPr>
        <p:spPr>
          <a:xfrm>
            <a:off x="6477000" y="4095750"/>
            <a:ext cx="4000500" cy="266700"/>
          </a:xfrm>
          <a:custGeom>
            <a:avLst/>
            <a:gdLst/>
            <a:ahLst/>
            <a:cxnLst/>
            <a:rect l="l" t="t" r="r" b="b"/>
            <a:pathLst>
              <a:path w="4000500" h="266700">
                <a:moveTo>
                  <a:pt x="47625" y="0"/>
                </a:moveTo>
                <a:lnTo>
                  <a:pt x="3952875" y="0"/>
                </a:lnTo>
                <a:cubicBezTo>
                  <a:pt x="3979178" y="0"/>
                  <a:pt x="4000500" y="21322"/>
                  <a:pt x="4000500" y="47625"/>
                </a:cubicBezTo>
                <a:lnTo>
                  <a:pt x="4000500" y="219075"/>
                </a:lnTo>
                <a:cubicBezTo>
                  <a:pt x="4000500" y="245378"/>
                  <a:pt x="3979178" y="266700"/>
                  <a:pt x="3952875" y="266700"/>
                </a:cubicBezTo>
                <a:lnTo>
                  <a:pt x="47625" y="266700"/>
                </a:lnTo>
                <a:cubicBezTo>
                  <a:pt x="21322" y="266700"/>
                  <a:pt x="0" y="245378"/>
                  <a:pt x="0" y="21907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6477000" y="4095750"/>
            <a:ext cx="3638550" cy="266700"/>
          </a:xfrm>
          <a:custGeom>
            <a:avLst/>
            <a:gdLst/>
            <a:ahLst/>
            <a:cxnLst/>
            <a:rect l="l" t="t" r="r" b="b"/>
            <a:pathLst>
              <a:path w="3638550" h="266700">
                <a:moveTo>
                  <a:pt x="47625" y="0"/>
                </a:moveTo>
                <a:lnTo>
                  <a:pt x="3590925" y="0"/>
                </a:lnTo>
                <a:cubicBezTo>
                  <a:pt x="3617228" y="0"/>
                  <a:pt x="3638550" y="21322"/>
                  <a:pt x="3638550" y="47625"/>
                </a:cubicBezTo>
                <a:lnTo>
                  <a:pt x="3638550" y="219075"/>
                </a:lnTo>
                <a:cubicBezTo>
                  <a:pt x="3638550" y="245378"/>
                  <a:pt x="3617228" y="266700"/>
                  <a:pt x="3590925" y="266700"/>
                </a:cubicBezTo>
                <a:lnTo>
                  <a:pt x="47625" y="266700"/>
                </a:lnTo>
                <a:cubicBezTo>
                  <a:pt x="21322" y="266700"/>
                  <a:pt x="0" y="245378"/>
                  <a:pt x="0" y="21907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34D399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6477000" y="4591050"/>
            <a:ext cx="4000500" cy="266700"/>
          </a:xfrm>
          <a:custGeom>
            <a:avLst/>
            <a:gdLst/>
            <a:ahLst/>
            <a:cxnLst/>
            <a:rect l="l" t="t" r="r" b="b"/>
            <a:pathLst>
              <a:path w="4000500" h="266700">
                <a:moveTo>
                  <a:pt x="47625" y="0"/>
                </a:moveTo>
                <a:lnTo>
                  <a:pt x="3952875" y="0"/>
                </a:lnTo>
                <a:cubicBezTo>
                  <a:pt x="3979178" y="0"/>
                  <a:pt x="4000500" y="21322"/>
                  <a:pt x="4000500" y="47625"/>
                </a:cubicBezTo>
                <a:lnTo>
                  <a:pt x="4000500" y="219075"/>
                </a:lnTo>
                <a:cubicBezTo>
                  <a:pt x="4000500" y="245378"/>
                  <a:pt x="3979178" y="266700"/>
                  <a:pt x="3952875" y="266700"/>
                </a:cubicBezTo>
                <a:lnTo>
                  <a:pt x="47625" y="266700"/>
                </a:lnTo>
                <a:cubicBezTo>
                  <a:pt x="21322" y="266700"/>
                  <a:pt x="0" y="245378"/>
                  <a:pt x="0" y="21907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6477000" y="4591050"/>
            <a:ext cx="2781300" cy="266700"/>
          </a:xfrm>
          <a:custGeom>
            <a:avLst/>
            <a:gdLst/>
            <a:ahLst/>
            <a:cxnLst/>
            <a:rect l="l" t="t" r="r" b="b"/>
            <a:pathLst>
              <a:path w="2781300" h="266700">
                <a:moveTo>
                  <a:pt x="47625" y="0"/>
                </a:moveTo>
                <a:lnTo>
                  <a:pt x="2733675" y="0"/>
                </a:lnTo>
                <a:cubicBezTo>
                  <a:pt x="2759978" y="0"/>
                  <a:pt x="2781300" y="21322"/>
                  <a:pt x="2781300" y="47625"/>
                </a:cubicBezTo>
                <a:lnTo>
                  <a:pt x="2781300" y="219075"/>
                </a:lnTo>
                <a:cubicBezTo>
                  <a:pt x="2781300" y="245378"/>
                  <a:pt x="2759978" y="266700"/>
                  <a:pt x="2733675" y="266700"/>
                </a:cubicBezTo>
                <a:lnTo>
                  <a:pt x="47625" y="266700"/>
                </a:lnTo>
                <a:cubicBezTo>
                  <a:pt x="21322" y="266700"/>
                  <a:pt x="0" y="245378"/>
                  <a:pt x="0" y="21907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58A6FF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6477000" y="5086350"/>
            <a:ext cx="4000500" cy="266700"/>
          </a:xfrm>
          <a:custGeom>
            <a:avLst/>
            <a:gdLst/>
            <a:ahLst/>
            <a:cxnLst/>
            <a:rect l="l" t="t" r="r" b="b"/>
            <a:pathLst>
              <a:path w="4000500" h="266700">
                <a:moveTo>
                  <a:pt x="47625" y="0"/>
                </a:moveTo>
                <a:lnTo>
                  <a:pt x="3952875" y="0"/>
                </a:lnTo>
                <a:cubicBezTo>
                  <a:pt x="3979178" y="0"/>
                  <a:pt x="4000500" y="21322"/>
                  <a:pt x="4000500" y="47625"/>
                </a:cubicBezTo>
                <a:lnTo>
                  <a:pt x="4000500" y="219075"/>
                </a:lnTo>
                <a:cubicBezTo>
                  <a:pt x="4000500" y="245378"/>
                  <a:pt x="3979178" y="266700"/>
                  <a:pt x="3952875" y="266700"/>
                </a:cubicBezTo>
                <a:lnTo>
                  <a:pt x="47625" y="266700"/>
                </a:lnTo>
                <a:cubicBezTo>
                  <a:pt x="21322" y="266700"/>
                  <a:pt x="0" y="245378"/>
                  <a:pt x="0" y="21907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6477000" y="5086350"/>
            <a:ext cx="1200150" cy="266700"/>
          </a:xfrm>
          <a:custGeom>
            <a:avLst/>
            <a:gdLst/>
            <a:ahLst/>
            <a:cxnLst/>
            <a:rect l="l" t="t" r="r" b="b"/>
            <a:pathLst>
              <a:path w="1200150" h="266700">
                <a:moveTo>
                  <a:pt x="47625" y="0"/>
                </a:moveTo>
                <a:lnTo>
                  <a:pt x="1152525" y="0"/>
                </a:lnTo>
                <a:cubicBezTo>
                  <a:pt x="1178828" y="0"/>
                  <a:pt x="1200150" y="21322"/>
                  <a:pt x="1200150" y="47625"/>
                </a:cubicBezTo>
                <a:lnTo>
                  <a:pt x="1200150" y="219075"/>
                </a:lnTo>
                <a:cubicBezTo>
                  <a:pt x="1200150" y="245378"/>
                  <a:pt x="1178828" y="266700"/>
                  <a:pt x="1152525" y="266700"/>
                </a:cubicBezTo>
                <a:lnTo>
                  <a:pt x="47625" y="266700"/>
                </a:lnTo>
                <a:cubicBezTo>
                  <a:pt x="21322" y="266700"/>
                  <a:pt x="0" y="245378"/>
                  <a:pt x="0" y="21907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655618" y="4180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安全读取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655618" y="46762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项目内编辑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655618" y="51715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外部动作</a:t>
            </a:r>
          </a:p>
        </p:txBody>
      </p:sp>
      <p:sp>
        <p:nvSpPr>
          <p:cNvPr id="35" name="Line 35"/>
          <p:cNvSpPr/>
          <p:nvPr/>
        </p:nvSpPr>
        <p:spPr>
          <a:xfrm>
            <a:off x="533400" y="60960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243044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23875" y="6376988"/>
            <a:ext cx="17661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Source: hybrid template preview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502580" y="63607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