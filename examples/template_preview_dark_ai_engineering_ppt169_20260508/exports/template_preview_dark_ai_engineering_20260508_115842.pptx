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这是一组用于预览 dark_ai_engineering 模板效果的样例页。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展示暗色工程风格如何承载系统架构、权限分层和分类器链路。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展示风险矩阵和技术评审场景中的高密度信息组织。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展示指标卡片、趋势图和运行状态面板。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总结该模板适合 AI 安全、系统架构和研发复盘场景。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6200"/>
            <a:ext cx="12192000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6858000" y="1143000"/>
            <a:ext cx="4191000" cy="4476750"/>
            <a:chOff x="6858000" y="1143000"/>
            <a:chExt cx="4191000" cy="4476750"/>
          </a:xfrm>
        </p:grpSpPr>
        <p:sp>
          <p:nvSpPr>
            <p:cNvPr id="5" name="Line 5"/>
            <p:cNvSpPr/>
            <p:nvPr/>
          </p:nvSpPr>
          <p:spPr>
            <a:xfrm>
              <a:off x="7239000" y="114300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001000" y="114300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763000" y="114300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114300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0" y="1143000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0" y="1714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0" y="2476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858000" y="3238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858000" y="4000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243044">
                  <a:alpha val="7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85800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243044"/>
              </a:solidFill>
            </a:ln>
          </p:spPr>
        </p:sp>
      </p:grpSp>
      <p:sp>
        <p:nvSpPr>
          <p:cNvPr id="16" name="Freeform 16"/>
          <p:cNvSpPr/>
          <p:nvPr/>
        </p:nvSpPr>
        <p:spPr>
          <a:xfrm>
            <a:off x="7239000" y="1485900"/>
            <a:ext cx="2895600" cy="723900"/>
          </a:xfrm>
          <a:custGeom>
            <a:avLst/>
            <a:gdLst/>
            <a:ahLst/>
            <a:cxnLst/>
            <a:rect l="l" t="t" r="r" b="b"/>
            <a:pathLst>
              <a:path w="2895600" h="723900">
                <a:moveTo>
                  <a:pt x="95250" y="0"/>
                </a:moveTo>
                <a:lnTo>
                  <a:pt x="2800350" y="0"/>
                </a:lnTo>
                <a:cubicBezTo>
                  <a:pt x="2852955" y="0"/>
                  <a:pt x="2895600" y="42645"/>
                  <a:pt x="2895600" y="95250"/>
                </a:cubicBezTo>
                <a:lnTo>
                  <a:pt x="2895600" y="628650"/>
                </a:lnTo>
                <a:cubicBezTo>
                  <a:pt x="2895600" y="681255"/>
                  <a:pt x="2852955" y="723900"/>
                  <a:pt x="2800350" y="723900"/>
                </a:cubicBezTo>
                <a:lnTo>
                  <a:pt x="95250" y="723900"/>
                </a:lnTo>
                <a:cubicBezTo>
                  <a:pt x="42645" y="723900"/>
                  <a:pt x="0" y="681255"/>
                  <a:pt x="0" y="628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7905750" y="2781300"/>
            <a:ext cx="2895600" cy="723900"/>
          </a:xfrm>
          <a:custGeom>
            <a:avLst/>
            <a:gdLst/>
            <a:ahLst/>
            <a:cxnLst/>
            <a:rect l="l" t="t" r="r" b="b"/>
            <a:pathLst>
              <a:path w="2895600" h="723900">
                <a:moveTo>
                  <a:pt x="95250" y="0"/>
                </a:moveTo>
                <a:lnTo>
                  <a:pt x="2800350" y="0"/>
                </a:lnTo>
                <a:cubicBezTo>
                  <a:pt x="2852955" y="0"/>
                  <a:pt x="2895600" y="42645"/>
                  <a:pt x="2895600" y="95250"/>
                </a:cubicBezTo>
                <a:lnTo>
                  <a:pt x="2895600" y="628650"/>
                </a:lnTo>
                <a:cubicBezTo>
                  <a:pt x="2895600" y="681255"/>
                  <a:pt x="2852955" y="723900"/>
                  <a:pt x="2800350" y="723900"/>
                </a:cubicBezTo>
                <a:lnTo>
                  <a:pt x="95250" y="723900"/>
                </a:lnTo>
                <a:cubicBezTo>
                  <a:pt x="42645" y="723900"/>
                  <a:pt x="0" y="681255"/>
                  <a:pt x="0" y="628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6858000" y="4076700"/>
            <a:ext cx="2895600" cy="723900"/>
          </a:xfrm>
          <a:custGeom>
            <a:avLst/>
            <a:gdLst/>
            <a:ahLst/>
            <a:cxnLst/>
            <a:rect l="l" t="t" r="r" b="b"/>
            <a:pathLst>
              <a:path w="2895600" h="723900">
                <a:moveTo>
                  <a:pt x="95250" y="0"/>
                </a:moveTo>
                <a:lnTo>
                  <a:pt x="2800350" y="0"/>
                </a:lnTo>
                <a:cubicBezTo>
                  <a:pt x="2852955" y="0"/>
                  <a:pt x="2895600" y="42645"/>
                  <a:pt x="2895600" y="95250"/>
                </a:cubicBezTo>
                <a:lnTo>
                  <a:pt x="2895600" y="628650"/>
                </a:lnTo>
                <a:cubicBezTo>
                  <a:pt x="2895600" y="681255"/>
                  <a:pt x="2852955" y="723900"/>
                  <a:pt x="2800350" y="723900"/>
                </a:cubicBezTo>
                <a:lnTo>
                  <a:pt x="95250" y="723900"/>
                </a:lnTo>
                <a:cubicBezTo>
                  <a:pt x="42645" y="723900"/>
                  <a:pt x="0" y="681255"/>
                  <a:pt x="0" y="6286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19" name="Line 19"/>
          <p:cNvSpPr/>
          <p:nvPr/>
        </p:nvSpPr>
        <p:spPr>
          <a:xfrm>
            <a:off x="8686800" y="2209800"/>
            <a:ext cx="666750" cy="571500"/>
          </a:xfrm>
          <a:custGeom>
            <a:avLst/>
            <a:gdLst/>
            <a:ahLst/>
            <a:cxnLst/>
            <a:rect l="l" t="t" r="r" b="b"/>
            <a:pathLst>
              <a:path w="666750" h="571500">
                <a:moveTo>
                  <a:pt x="0" y="0"/>
                </a:moveTo>
                <a:lnTo>
                  <a:pt x="666750" y="571500"/>
                </a:lnTo>
              </a:path>
            </a:pathLst>
          </a:custGeom>
          <a:noFill/>
          <a:ln w="19050">
            <a:solidFill>
              <a:srgbClr val="22D3EE"/>
            </a:solidFill>
          </a:ln>
        </p:spPr>
      </p:sp>
      <p:sp>
        <p:nvSpPr>
          <p:cNvPr id="20" name="Line 20"/>
          <p:cNvSpPr/>
          <p:nvPr/>
        </p:nvSpPr>
        <p:spPr>
          <a:xfrm>
            <a:off x="8305800" y="3505200"/>
            <a:ext cx="1047750" cy="571500"/>
          </a:xfrm>
          <a:custGeom>
            <a:avLst/>
            <a:gdLst/>
            <a:ahLst/>
            <a:cxnLst/>
            <a:rect l="l" t="t" r="r" b="b"/>
            <a:pathLst>
              <a:path w="1047750" h="571500">
                <a:moveTo>
                  <a:pt x="1047750" y="0"/>
                </a:moveTo>
                <a:lnTo>
                  <a:pt x="0" y="571500"/>
                </a:lnTo>
              </a:path>
            </a:pathLst>
          </a:custGeom>
          <a:noFill/>
          <a:ln w="19050">
            <a:solidFill>
              <a:srgbClr val="58A6FF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8591550" y="1752600"/>
            <a:ext cx="190500" cy="1905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9258300" y="3048000"/>
            <a:ext cx="190500" cy="1905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8210550" y="4343400"/>
            <a:ext cx="190500" cy="1905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38200" y="2038350"/>
            <a:ext cx="66675" cy="20002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5375" y="1995488"/>
            <a:ext cx="291310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Auto Mode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5375" y="2547938"/>
            <a:ext cx="354568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安全评审样例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1095" y="3250882"/>
            <a:ext cx="43675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Dark AI Engineering Template Preview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6810" y="3813810"/>
            <a:ext cx="2505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AI 安全 · 系统架构 · 工程复盘</a:t>
            </a:r>
          </a:p>
        </p:txBody>
      </p:sp>
      <p:sp>
        <p:nvSpPr>
          <p:cNvPr id="29" name="Line 29"/>
          <p:cNvSpPr/>
          <p:nvPr/>
        </p:nvSpPr>
        <p:spPr>
          <a:xfrm>
            <a:off x="838200" y="5810250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243044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25818" y="6105049"/>
            <a:ext cx="807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2026-05-08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61047" y="6105049"/>
            <a:ext cx="11568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PPT Master Fork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8635" y="341948"/>
            <a:ext cx="393701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架构总览：三层安全控制链路</a:t>
            </a:r>
          </a:p>
        </p:txBody>
      </p:sp>
      <p:sp>
        <p:nvSpPr>
          <p:cNvPr id="5" name="Freeform 5"/>
          <p:cNvSpPr/>
          <p:nvPr/>
        </p:nvSpPr>
        <p:spPr>
          <a:xfrm>
            <a:off x="533400" y="800100"/>
            <a:ext cx="11125200" cy="552450"/>
          </a:xfrm>
          <a:custGeom>
            <a:avLst/>
            <a:gdLst/>
            <a:ahLst/>
            <a:cxnLst/>
            <a:rect l="l" t="t" r="r" b="b"/>
            <a:pathLst>
              <a:path w="11125200" h="552450">
                <a:moveTo>
                  <a:pt x="57150" y="0"/>
                </a:moveTo>
                <a:lnTo>
                  <a:pt x="11068050" y="0"/>
                </a:lnTo>
                <a:cubicBezTo>
                  <a:pt x="11099613" y="0"/>
                  <a:pt x="11125200" y="25587"/>
                  <a:pt x="11125200" y="57150"/>
                </a:cubicBezTo>
                <a:lnTo>
                  <a:pt x="11125200" y="495300"/>
                </a:lnTo>
                <a:cubicBezTo>
                  <a:pt x="11125200" y="526863"/>
                  <a:pt x="11099613" y="552450"/>
                  <a:pt x="1106805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33400" y="800100"/>
            <a:ext cx="66675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06792"/>
            <a:ext cx="60380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输入进入上下文前先探测注入，动作执行前再由分类器判定风险。</a:t>
            </a:r>
          </a:p>
        </p:txBody>
      </p:sp>
      <p:sp>
        <p:nvSpPr>
          <p:cNvPr id="8" name="Freeform 8"/>
          <p:cNvSpPr/>
          <p:nvPr/>
        </p:nvSpPr>
        <p:spPr>
          <a:xfrm>
            <a:off x="609600" y="1676400"/>
            <a:ext cx="2476500" cy="3333750"/>
          </a:xfrm>
          <a:custGeom>
            <a:avLst/>
            <a:gdLst/>
            <a:ahLst/>
            <a:cxnLst/>
            <a:rect l="l" t="t" r="r" b="b"/>
            <a:pathLst>
              <a:path w="2476500" h="333375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3219450"/>
                </a:lnTo>
                <a:cubicBezTo>
                  <a:pt x="2476500" y="3282576"/>
                  <a:pt x="2425326" y="3333750"/>
                  <a:pt x="2362200" y="3333750"/>
                </a:cubicBezTo>
                <a:lnTo>
                  <a:pt x="114300" y="3333750"/>
                </a:lnTo>
                <a:cubicBezTo>
                  <a:pt x="51174" y="3333750"/>
                  <a:pt x="0" y="3282576"/>
                  <a:pt x="0" y="3219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3562350" y="1676400"/>
            <a:ext cx="2476500" cy="3333750"/>
          </a:xfrm>
          <a:custGeom>
            <a:avLst/>
            <a:gdLst/>
            <a:ahLst/>
            <a:cxnLst/>
            <a:rect l="l" t="t" r="r" b="b"/>
            <a:pathLst>
              <a:path w="2476500" h="333375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3219450"/>
                </a:lnTo>
                <a:cubicBezTo>
                  <a:pt x="2476500" y="3282576"/>
                  <a:pt x="2425326" y="3333750"/>
                  <a:pt x="2362200" y="3333750"/>
                </a:cubicBezTo>
                <a:lnTo>
                  <a:pt x="114300" y="3333750"/>
                </a:lnTo>
                <a:cubicBezTo>
                  <a:pt x="51174" y="3333750"/>
                  <a:pt x="0" y="3282576"/>
                  <a:pt x="0" y="3219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6515100" y="1676400"/>
            <a:ext cx="2476500" cy="3333750"/>
          </a:xfrm>
          <a:custGeom>
            <a:avLst/>
            <a:gdLst/>
            <a:ahLst/>
            <a:cxnLst/>
            <a:rect l="l" t="t" r="r" b="b"/>
            <a:pathLst>
              <a:path w="2476500" h="3333750">
                <a:moveTo>
                  <a:pt x="114300" y="0"/>
                </a:moveTo>
                <a:lnTo>
                  <a:pt x="2362200" y="0"/>
                </a:lnTo>
                <a:cubicBezTo>
                  <a:pt x="2425326" y="0"/>
                  <a:pt x="2476500" y="51174"/>
                  <a:pt x="2476500" y="114300"/>
                </a:cubicBezTo>
                <a:lnTo>
                  <a:pt x="2476500" y="3219450"/>
                </a:lnTo>
                <a:cubicBezTo>
                  <a:pt x="2476500" y="3282576"/>
                  <a:pt x="2425326" y="3333750"/>
                  <a:pt x="2362200" y="3333750"/>
                </a:cubicBezTo>
                <a:lnTo>
                  <a:pt x="114300" y="3333750"/>
                </a:lnTo>
                <a:cubicBezTo>
                  <a:pt x="51174" y="3333750"/>
                  <a:pt x="0" y="3282576"/>
                  <a:pt x="0" y="3219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9467850" y="1676400"/>
            <a:ext cx="2095500" cy="3333750"/>
          </a:xfrm>
          <a:custGeom>
            <a:avLst/>
            <a:gdLst/>
            <a:ahLst/>
            <a:cxnLst/>
            <a:rect l="l" t="t" r="r" b="b"/>
            <a:pathLst>
              <a:path w="2095500" h="333375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3219450"/>
                </a:lnTo>
                <a:cubicBezTo>
                  <a:pt x="2095500" y="3282576"/>
                  <a:pt x="2044326" y="3333750"/>
                  <a:pt x="1981200" y="3333750"/>
                </a:cubicBezTo>
                <a:lnTo>
                  <a:pt x="114300" y="3333750"/>
                </a:lnTo>
                <a:cubicBezTo>
                  <a:pt x="51174" y="3333750"/>
                  <a:pt x="0" y="3282576"/>
                  <a:pt x="0" y="3219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11827"/>
          </a:solidFill>
          <a:ln w="9525">
            <a:solidFill>
              <a:srgbClr val="243044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74395" y="1955482"/>
            <a:ext cx="13450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01 输入探针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27145" y="1955482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02 权限分层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79895" y="1955482"/>
            <a:ext cx="16613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03 输出分类器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32645" y="19554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执行策略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81062" y="2469356"/>
            <a:ext cx="9544050" cy="1104900"/>
            <a:chOff x="881062" y="2469356"/>
            <a:chExt cx="9544050" cy="1104900"/>
          </a:xfrm>
        </p:grpSpPr>
        <p:sp>
          <p:nvSpPr>
            <p:cNvPr id="16" name="TextBox 16"/>
            <p:cNvSpPr txBox="1"/>
            <p:nvPr/>
          </p:nvSpPr>
          <p:spPr>
            <a:xfrm>
              <a:off x="881062" y="24693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扫描文件、网页、命令输出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1062" y="290750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识别提示注入和越权意图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1062" y="33456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高风险内容附加警告标记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33812" y="24693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安全读取直接放行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33812" y="290750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项目内修改依赖版本控制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33812" y="33456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外部命令进入风险判定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6562" y="2469356"/>
              <a:ext cx="14005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快速单 token 过滤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86562" y="29075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必要时触发深度推理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86562" y="33456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按用户意图判断动作边界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39312" y="2469356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允许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39312" y="29075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请求确认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39312" y="33456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阻断动作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086100" y="3333750"/>
            <a:ext cx="6381750" cy="9525"/>
            <a:chOff x="3086100" y="3333750"/>
            <a:chExt cx="6381750" cy="9525"/>
          </a:xfrm>
        </p:grpSpPr>
        <p:sp>
          <p:nvSpPr>
            <p:cNvPr id="29" name="Freeform 29"/>
            <p:cNvSpPr/>
            <p:nvPr/>
          </p:nvSpPr>
          <p:spPr>
            <a:xfrm>
              <a:off x="3086100" y="3333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rgbClr val="22D3EE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991600" y="3333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rgbClr val="22D3EE"/>
              </a:solidFill>
            </a:ln>
          </p:spPr>
        </p:sp>
      </p:grpSp>
      <p:sp>
        <p:nvSpPr>
          <p:cNvPr id="32" name="Freeform 32"/>
          <p:cNvSpPr/>
          <p:nvPr/>
        </p:nvSpPr>
        <p:spPr>
          <a:xfrm>
            <a:off x="6038850" y="3333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58A6FF"/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3267075" y="3286125"/>
            <a:ext cx="6000750" cy="95250"/>
            <a:chOff x="3267075" y="3286125"/>
            <a:chExt cx="6000750" cy="95250"/>
          </a:xfrm>
        </p:grpSpPr>
        <p:sp>
          <p:nvSpPr>
            <p:cNvPr id="33" name="Ellipse 33"/>
            <p:cNvSpPr/>
            <p:nvPr/>
          </p:nvSpPr>
          <p:spPr>
            <a:xfrm>
              <a:off x="3267075" y="3286125"/>
              <a:ext cx="95250" cy="95250"/>
            </a:xfrm>
            <a:prstGeom prst="ellipse">
              <a:avLst/>
            </a:prstGeom>
            <a:solidFill>
              <a:srgbClr val="243044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219825" y="3286125"/>
              <a:ext cx="95250" cy="95250"/>
            </a:xfrm>
            <a:prstGeom prst="ellipse">
              <a:avLst/>
            </a:prstGeom>
            <a:solidFill>
              <a:srgbClr val="243044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172575" y="3286125"/>
              <a:ext cx="95250" cy="95250"/>
            </a:xfrm>
            <a:prstGeom prst="ellipse">
              <a:avLst/>
            </a:prstGeom>
            <a:solidFill>
              <a:srgbClr val="243044"/>
            </a:solidFill>
            <a:ln>
              <a:noFill/>
            </a:ln>
          </p:spPr>
        </p:sp>
      </p:grpSp>
      <p:sp>
        <p:nvSpPr>
          <p:cNvPr id="37" name="Freeform 37"/>
          <p:cNvSpPr/>
          <p:nvPr/>
        </p:nvSpPr>
        <p:spPr>
          <a:xfrm>
            <a:off x="895350" y="4095750"/>
            <a:ext cx="1809750" cy="457200"/>
          </a:xfrm>
          <a:custGeom>
            <a:avLst/>
            <a:gdLst/>
            <a:ahLst/>
            <a:cxnLst/>
            <a:rect l="l" t="t" r="r" b="b"/>
            <a:pathLst>
              <a:path w="1809750" h="457200">
                <a:moveTo>
                  <a:pt x="76200" y="0"/>
                </a:moveTo>
                <a:lnTo>
                  <a:pt x="1733550" y="0"/>
                </a:lnTo>
                <a:cubicBezTo>
                  <a:pt x="1775634" y="0"/>
                  <a:pt x="1809750" y="34116"/>
                  <a:pt x="1809750" y="76200"/>
                </a:cubicBezTo>
                <a:lnTo>
                  <a:pt x="1809750" y="381000"/>
                </a:lnTo>
                <a:cubicBezTo>
                  <a:pt x="1809750" y="423084"/>
                  <a:pt x="1775634" y="457200"/>
                  <a:pt x="173355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11827"/>
          </a:solidFill>
          <a:ln w="9525">
            <a:solidFill>
              <a:srgbClr val="243044"/>
            </a:solidFill>
          </a:ln>
        </p:spPr>
      </p:sp>
      <p:sp>
        <p:nvSpPr>
          <p:cNvPr id="38" name="Freeform 38"/>
          <p:cNvSpPr/>
          <p:nvPr/>
        </p:nvSpPr>
        <p:spPr>
          <a:xfrm>
            <a:off x="3848100" y="4095750"/>
            <a:ext cx="1809750" cy="457200"/>
          </a:xfrm>
          <a:custGeom>
            <a:avLst/>
            <a:gdLst/>
            <a:ahLst/>
            <a:cxnLst/>
            <a:rect l="l" t="t" r="r" b="b"/>
            <a:pathLst>
              <a:path w="1809750" h="457200">
                <a:moveTo>
                  <a:pt x="76200" y="0"/>
                </a:moveTo>
                <a:lnTo>
                  <a:pt x="1733550" y="0"/>
                </a:lnTo>
                <a:cubicBezTo>
                  <a:pt x="1775634" y="0"/>
                  <a:pt x="1809750" y="34116"/>
                  <a:pt x="1809750" y="76200"/>
                </a:cubicBezTo>
                <a:lnTo>
                  <a:pt x="1809750" y="381000"/>
                </a:lnTo>
                <a:cubicBezTo>
                  <a:pt x="1809750" y="423084"/>
                  <a:pt x="1775634" y="457200"/>
                  <a:pt x="173355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11827"/>
          </a:solidFill>
          <a:ln w="9525">
            <a:solidFill>
              <a:srgbClr val="243044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6800850" y="4095750"/>
            <a:ext cx="1809750" cy="457200"/>
          </a:xfrm>
          <a:custGeom>
            <a:avLst/>
            <a:gdLst/>
            <a:ahLst/>
            <a:cxnLst/>
            <a:rect l="l" t="t" r="r" b="b"/>
            <a:pathLst>
              <a:path w="1809750" h="457200">
                <a:moveTo>
                  <a:pt x="76200" y="0"/>
                </a:moveTo>
                <a:lnTo>
                  <a:pt x="1733550" y="0"/>
                </a:lnTo>
                <a:cubicBezTo>
                  <a:pt x="1775634" y="0"/>
                  <a:pt x="1809750" y="34116"/>
                  <a:pt x="1809750" y="76200"/>
                </a:cubicBezTo>
                <a:lnTo>
                  <a:pt x="1809750" y="381000"/>
                </a:lnTo>
                <a:cubicBezTo>
                  <a:pt x="1809750" y="423084"/>
                  <a:pt x="1775634" y="457200"/>
                  <a:pt x="173355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11827"/>
          </a:solidFill>
          <a:ln w="9525">
            <a:solidFill>
              <a:srgbClr val="243044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264265" y="4269581"/>
            <a:ext cx="10719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Context Gate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26647" y="4269581"/>
            <a:ext cx="12526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Permission Tier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190303" y="4269581"/>
            <a:ext cx="1030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Action Judge</a:t>
            </a:r>
          </a:p>
        </p:txBody>
      </p:sp>
      <p:sp>
        <p:nvSpPr>
          <p:cNvPr id="43" name="Line 43"/>
          <p:cNvSpPr/>
          <p:nvPr/>
        </p:nvSpPr>
        <p:spPr>
          <a:xfrm>
            <a:off x="533400" y="6096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243044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23875" y="6376988"/>
            <a:ext cx="1788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Source: template preview sample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502580" y="63607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8635" y="341948"/>
            <a:ext cx="459489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风险矩阵：把“能做”和“该做”分开</a:t>
            </a:r>
          </a:p>
        </p:txBody>
      </p:sp>
      <p:sp>
        <p:nvSpPr>
          <p:cNvPr id="5" name="Freeform 5"/>
          <p:cNvSpPr/>
          <p:nvPr/>
        </p:nvSpPr>
        <p:spPr>
          <a:xfrm>
            <a:off x="533400" y="800100"/>
            <a:ext cx="11125200" cy="552450"/>
          </a:xfrm>
          <a:custGeom>
            <a:avLst/>
            <a:gdLst/>
            <a:ahLst/>
            <a:cxnLst/>
            <a:rect l="l" t="t" r="r" b="b"/>
            <a:pathLst>
              <a:path w="11125200" h="552450">
                <a:moveTo>
                  <a:pt x="57150" y="0"/>
                </a:moveTo>
                <a:lnTo>
                  <a:pt x="11068050" y="0"/>
                </a:lnTo>
                <a:cubicBezTo>
                  <a:pt x="11099613" y="0"/>
                  <a:pt x="11125200" y="25587"/>
                  <a:pt x="11125200" y="57150"/>
                </a:cubicBezTo>
                <a:lnTo>
                  <a:pt x="11125200" y="495300"/>
                </a:lnTo>
                <a:cubicBezTo>
                  <a:pt x="11125200" y="526863"/>
                  <a:pt x="11099613" y="552450"/>
                  <a:pt x="1106805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33400" y="800100"/>
            <a:ext cx="66675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06792"/>
            <a:ext cx="47958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暗色模板适合承载风险分层、动作审计和工程判断。</a:t>
            </a:r>
          </a:p>
        </p:txBody>
      </p:sp>
      <p:sp>
        <p:nvSpPr>
          <p:cNvPr id="8" name="Freeform 8"/>
          <p:cNvSpPr/>
          <p:nvPr/>
        </p:nvSpPr>
        <p:spPr>
          <a:xfrm>
            <a:off x="723900" y="1695450"/>
            <a:ext cx="6191250" cy="4000500"/>
          </a:xfrm>
          <a:custGeom>
            <a:avLst/>
            <a:gdLst/>
            <a:ahLst/>
            <a:cxnLst/>
            <a:rect l="l" t="t" r="r" b="b"/>
            <a:pathLst>
              <a:path w="6191250" h="4000500">
                <a:moveTo>
                  <a:pt x="114300" y="0"/>
                </a:moveTo>
                <a:lnTo>
                  <a:pt x="6076950" y="0"/>
                </a:lnTo>
                <a:cubicBezTo>
                  <a:pt x="6140076" y="0"/>
                  <a:pt x="6191250" y="51174"/>
                  <a:pt x="6191250" y="114300"/>
                </a:cubicBezTo>
                <a:lnTo>
                  <a:pt x="6191250" y="3886200"/>
                </a:lnTo>
                <a:cubicBezTo>
                  <a:pt x="6191250" y="3949326"/>
                  <a:pt x="6140076" y="4000500"/>
                  <a:pt x="607695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9" name="Line 9"/>
          <p:cNvSpPr/>
          <p:nvPr/>
        </p:nvSpPr>
        <p:spPr>
          <a:xfrm>
            <a:off x="3819525" y="207645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19050">
            <a:solidFill>
              <a:srgbClr val="243044"/>
            </a:solidFill>
          </a:ln>
        </p:spPr>
      </p:sp>
      <p:sp>
        <p:nvSpPr>
          <p:cNvPr id="10" name="Line 10"/>
          <p:cNvSpPr/>
          <p:nvPr/>
        </p:nvSpPr>
        <p:spPr>
          <a:xfrm>
            <a:off x="1104900" y="3695700"/>
            <a:ext cx="5429250" cy="9525"/>
          </a:xfrm>
          <a:custGeom>
            <a:avLst/>
            <a:gdLst/>
            <a:ahLst/>
            <a:cxnLst/>
            <a:rect l="l" t="t" r="r" b="b"/>
            <a:pathLst>
              <a:path w="5429250" h="9525">
                <a:moveTo>
                  <a:pt x="0" y="0"/>
                </a:moveTo>
                <a:lnTo>
                  <a:pt x="5429250" y="0"/>
                </a:lnTo>
              </a:path>
            </a:pathLst>
          </a:custGeom>
          <a:noFill/>
          <a:ln w="19050">
            <a:solidFill>
              <a:srgbClr val="24304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86865" y="20393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低影响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4965" y="20393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高影响</a:t>
            </a:r>
          </a:p>
        </p:txBody>
      </p:sp>
      <p:sp>
        <p:nvSpPr>
          <p:cNvPr id="13" name="TextBox 13"/>
          <p:cNvSpPr txBox="1"/>
          <p:nvPr/>
        </p:nvSpPr>
        <p:spPr>
          <a:xfrm rot="-5400000">
            <a:off x="882015" y="30870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低不确定性</a:t>
            </a:r>
          </a:p>
        </p:txBody>
      </p:sp>
      <p:sp>
        <p:nvSpPr>
          <p:cNvPr id="14" name="TextBox 14"/>
          <p:cNvSpPr txBox="1"/>
          <p:nvPr/>
        </p:nvSpPr>
        <p:spPr>
          <a:xfrm rot="-5400000">
            <a:off x="882015" y="49730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高不确定性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57300" y="2362200"/>
            <a:ext cx="2209800" cy="990600"/>
          </a:xfrm>
          <a:custGeom>
            <a:avLst/>
            <a:gdLst/>
            <a:ahLst/>
            <a:cxnLst/>
            <a:rect l="l" t="t" r="r" b="b"/>
            <a:pathLst>
              <a:path w="2209800" h="990600">
                <a:moveTo>
                  <a:pt x="95250" y="0"/>
                </a:moveTo>
                <a:lnTo>
                  <a:pt x="2114550" y="0"/>
                </a:lnTo>
                <a:cubicBezTo>
                  <a:pt x="2167155" y="0"/>
                  <a:pt x="2209800" y="42645"/>
                  <a:pt x="2209800" y="95250"/>
                </a:cubicBezTo>
                <a:lnTo>
                  <a:pt x="2209800" y="895350"/>
                </a:lnTo>
                <a:cubicBezTo>
                  <a:pt x="2209800" y="947955"/>
                  <a:pt x="2167155" y="990600"/>
                  <a:pt x="2114550" y="990600"/>
                </a:cubicBezTo>
                <a:lnTo>
                  <a:pt x="95250" y="990600"/>
                </a:lnTo>
                <a:cubicBezTo>
                  <a:pt x="42645" y="990600"/>
                  <a:pt x="0" y="947955"/>
                  <a:pt x="0" y="8953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11827"/>
          </a:solidFill>
          <a:ln w="9525">
            <a:solidFill>
              <a:srgbClr val="34D399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4171950" y="2362200"/>
            <a:ext cx="2209800" cy="990600"/>
          </a:xfrm>
          <a:custGeom>
            <a:avLst/>
            <a:gdLst/>
            <a:ahLst/>
            <a:cxnLst/>
            <a:rect l="l" t="t" r="r" b="b"/>
            <a:pathLst>
              <a:path w="2209800" h="990600">
                <a:moveTo>
                  <a:pt x="95250" y="0"/>
                </a:moveTo>
                <a:lnTo>
                  <a:pt x="2114550" y="0"/>
                </a:lnTo>
                <a:cubicBezTo>
                  <a:pt x="2167155" y="0"/>
                  <a:pt x="2209800" y="42645"/>
                  <a:pt x="2209800" y="95250"/>
                </a:cubicBezTo>
                <a:lnTo>
                  <a:pt x="2209800" y="895350"/>
                </a:lnTo>
                <a:cubicBezTo>
                  <a:pt x="2209800" y="947955"/>
                  <a:pt x="2167155" y="990600"/>
                  <a:pt x="2114550" y="990600"/>
                </a:cubicBezTo>
                <a:lnTo>
                  <a:pt x="95250" y="990600"/>
                </a:lnTo>
                <a:cubicBezTo>
                  <a:pt x="42645" y="990600"/>
                  <a:pt x="0" y="947955"/>
                  <a:pt x="0" y="8953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11827"/>
          </a:solidFill>
          <a:ln w="9525">
            <a:solidFill>
              <a:srgbClr val="F59E0B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1257300" y="4076700"/>
            <a:ext cx="2209800" cy="990600"/>
          </a:xfrm>
          <a:custGeom>
            <a:avLst/>
            <a:gdLst/>
            <a:ahLst/>
            <a:cxnLst/>
            <a:rect l="l" t="t" r="r" b="b"/>
            <a:pathLst>
              <a:path w="2209800" h="990600">
                <a:moveTo>
                  <a:pt x="95250" y="0"/>
                </a:moveTo>
                <a:lnTo>
                  <a:pt x="2114550" y="0"/>
                </a:lnTo>
                <a:cubicBezTo>
                  <a:pt x="2167155" y="0"/>
                  <a:pt x="2209800" y="42645"/>
                  <a:pt x="2209800" y="95250"/>
                </a:cubicBezTo>
                <a:lnTo>
                  <a:pt x="2209800" y="895350"/>
                </a:lnTo>
                <a:cubicBezTo>
                  <a:pt x="2209800" y="947955"/>
                  <a:pt x="2167155" y="990600"/>
                  <a:pt x="2114550" y="990600"/>
                </a:cubicBezTo>
                <a:lnTo>
                  <a:pt x="95250" y="990600"/>
                </a:lnTo>
                <a:cubicBezTo>
                  <a:pt x="42645" y="990600"/>
                  <a:pt x="0" y="947955"/>
                  <a:pt x="0" y="8953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11827"/>
          </a:solidFill>
          <a:ln w="9525">
            <a:solidFill>
              <a:srgbClr val="58A6FF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4171950" y="4076700"/>
            <a:ext cx="2209800" cy="990600"/>
          </a:xfrm>
          <a:custGeom>
            <a:avLst/>
            <a:gdLst/>
            <a:ahLst/>
            <a:cxnLst/>
            <a:rect l="l" t="t" r="r" b="b"/>
            <a:pathLst>
              <a:path w="2209800" h="990600">
                <a:moveTo>
                  <a:pt x="95250" y="0"/>
                </a:moveTo>
                <a:lnTo>
                  <a:pt x="2114550" y="0"/>
                </a:lnTo>
                <a:cubicBezTo>
                  <a:pt x="2167155" y="0"/>
                  <a:pt x="2209800" y="42645"/>
                  <a:pt x="2209800" y="95250"/>
                </a:cubicBezTo>
                <a:lnTo>
                  <a:pt x="2209800" y="895350"/>
                </a:lnTo>
                <a:cubicBezTo>
                  <a:pt x="2209800" y="947955"/>
                  <a:pt x="2167155" y="990600"/>
                  <a:pt x="2114550" y="990600"/>
                </a:cubicBezTo>
                <a:lnTo>
                  <a:pt x="95250" y="990600"/>
                </a:lnTo>
                <a:cubicBezTo>
                  <a:pt x="42645" y="990600"/>
                  <a:pt x="0" y="947955"/>
                  <a:pt x="0" y="8953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11827"/>
          </a:solidFill>
          <a:ln w="9525">
            <a:solidFill>
              <a:srgbClr val="F97373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468755" y="2597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34D399"/>
                </a:solidFill>
                <a:latin typeface="Arial"/>
                <a:ea typeface="Microsoft YaHei"/>
                <a:cs typeface="Arial"/>
              </a:rPr>
              <a:t>允许执行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83405" y="25974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请求确认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68755" y="4311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记录审计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83405" y="43119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97373"/>
                </a:solidFill>
                <a:latin typeface="Arial"/>
                <a:ea typeface="Microsoft YaHei"/>
                <a:cs typeface="Arial"/>
              </a:rPr>
              <a:t>阻断动作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473518" y="2942749"/>
            <a:ext cx="4363402" cy="1912620"/>
            <a:chOff x="1473518" y="2942749"/>
            <a:chExt cx="4363402" cy="1912620"/>
          </a:xfrm>
        </p:grpSpPr>
        <p:sp>
          <p:nvSpPr>
            <p:cNvPr id="23" name="TextBox 23"/>
            <p:cNvSpPr txBox="1"/>
            <p:nvPr/>
          </p:nvSpPr>
          <p:spPr>
            <a:xfrm>
              <a:off x="1473518" y="29427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读取、搜索、项目内编辑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88168" y="29427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外部写入、网络访问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73518" y="46572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边界模糊但可恢复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88168" y="46572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凭据、生产、远端破坏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7429500" y="1695450"/>
            <a:ext cx="4038600" cy="4000500"/>
          </a:xfrm>
          <a:custGeom>
            <a:avLst/>
            <a:gdLst/>
            <a:ahLst/>
            <a:cxnLst/>
            <a:rect l="l" t="t" r="r" b="b"/>
            <a:pathLst>
              <a:path w="4038600" h="4000500">
                <a:moveTo>
                  <a:pt x="114300" y="0"/>
                </a:moveTo>
                <a:lnTo>
                  <a:pt x="3924300" y="0"/>
                </a:lnTo>
                <a:cubicBezTo>
                  <a:pt x="3987426" y="0"/>
                  <a:pt x="4038600" y="51174"/>
                  <a:pt x="4038600" y="114300"/>
                </a:cubicBezTo>
                <a:lnTo>
                  <a:pt x="4038600" y="3886200"/>
                </a:lnTo>
                <a:cubicBezTo>
                  <a:pt x="4038600" y="3949326"/>
                  <a:pt x="3987426" y="4000500"/>
                  <a:pt x="39243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751445" y="201263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四类重点风险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829550" y="2609850"/>
            <a:ext cx="2006918" cy="2759869"/>
            <a:chOff x="7829550" y="2609850"/>
            <a:chExt cx="2006918" cy="2759869"/>
          </a:xfrm>
        </p:grpSpPr>
        <p:sp>
          <p:nvSpPr>
            <p:cNvPr id="30" name="Ellipse 30"/>
            <p:cNvSpPr/>
            <p:nvPr/>
          </p:nvSpPr>
          <p:spPr>
            <a:xfrm>
              <a:off x="7829550" y="2609850"/>
              <a:ext cx="152400" cy="152400"/>
            </a:xfrm>
            <a:prstGeom prst="ellipse">
              <a:avLst/>
            </a:prstGeom>
            <a:solidFill>
              <a:srgbClr val="F9737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00060" y="2613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过度主动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2918" y="28855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未获授权却扩大执行范围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29550" y="3371850"/>
              <a:ext cx="152400" cy="152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00060" y="3375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诚实误判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2918" y="36475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低估命令影响半径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29550" y="4133850"/>
              <a:ext cx="152400" cy="15240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00060" y="4137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提示注入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2918" y="44095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文件或网页中嵌入恶意指令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29550" y="4895850"/>
              <a:ext cx="152400" cy="152400"/>
            </a:xfrm>
            <a:prstGeom prst="ellipse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00060" y="4899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目标偏移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02918" y="51715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动作和用户目标不一致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533400" y="6096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243044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23875" y="6376988"/>
            <a:ext cx="1788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Source: template preview sample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502580" y="63607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8635" y="341948"/>
            <a:ext cx="423605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运行指标：低摩擦不等于无边界</a:t>
            </a:r>
          </a:p>
        </p:txBody>
      </p:sp>
      <p:sp>
        <p:nvSpPr>
          <p:cNvPr id="5" name="Freeform 5"/>
          <p:cNvSpPr/>
          <p:nvPr/>
        </p:nvSpPr>
        <p:spPr>
          <a:xfrm>
            <a:off x="533400" y="800100"/>
            <a:ext cx="11125200" cy="552450"/>
          </a:xfrm>
          <a:custGeom>
            <a:avLst/>
            <a:gdLst/>
            <a:ahLst/>
            <a:cxnLst/>
            <a:rect l="l" t="t" r="r" b="b"/>
            <a:pathLst>
              <a:path w="11125200" h="552450">
                <a:moveTo>
                  <a:pt x="57150" y="0"/>
                </a:moveTo>
                <a:lnTo>
                  <a:pt x="11068050" y="0"/>
                </a:lnTo>
                <a:cubicBezTo>
                  <a:pt x="11099613" y="0"/>
                  <a:pt x="11125200" y="25587"/>
                  <a:pt x="11125200" y="57150"/>
                </a:cubicBezTo>
                <a:lnTo>
                  <a:pt x="11125200" y="495300"/>
                </a:lnTo>
                <a:cubicBezTo>
                  <a:pt x="11125200" y="526863"/>
                  <a:pt x="11099613" y="552450"/>
                  <a:pt x="11068050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58A6FF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33400" y="800100"/>
            <a:ext cx="66675" cy="5524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5805" y="1006792"/>
            <a:ext cx="62450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指标页保持高密度，但用卡片、趋势线和状态色建立清晰扫描路径。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9600" y="1676400"/>
            <a:ext cx="10439400" cy="1257300"/>
            <a:chOff x="609600" y="1676400"/>
            <a:chExt cx="10439400" cy="1257300"/>
          </a:xfrm>
        </p:grpSpPr>
        <p:sp>
          <p:nvSpPr>
            <p:cNvPr id="8" name="Freeform 8"/>
            <p:cNvSpPr/>
            <p:nvPr/>
          </p:nvSpPr>
          <p:spPr>
            <a:xfrm>
              <a:off x="609600" y="1676400"/>
              <a:ext cx="2438400" cy="1257300"/>
            </a:xfrm>
            <a:custGeom>
              <a:avLst/>
              <a:gdLst/>
              <a:ahLst/>
              <a:cxnLst/>
              <a:rect l="l" t="t" r="r" b="b"/>
              <a:pathLst>
                <a:path w="2438400" h="1257300">
                  <a:moveTo>
                    <a:pt x="114300" y="0"/>
                  </a:moveTo>
                  <a:lnTo>
                    <a:pt x="2324100" y="0"/>
                  </a:lnTo>
                  <a:cubicBezTo>
                    <a:pt x="2387226" y="0"/>
                    <a:pt x="2438400" y="51174"/>
                    <a:pt x="2438400" y="114300"/>
                  </a:cubicBezTo>
                  <a:lnTo>
                    <a:pt x="2438400" y="1143000"/>
                  </a:lnTo>
                  <a:cubicBezTo>
                    <a:pt x="2438400" y="1206126"/>
                    <a:pt x="2387226" y="1257300"/>
                    <a:pt x="2324100" y="1257300"/>
                  </a:cubicBezTo>
                  <a:lnTo>
                    <a:pt x="114300" y="1257300"/>
                  </a:lnTo>
                  <a:cubicBezTo>
                    <a:pt x="51174" y="1257300"/>
                    <a:pt x="0" y="1206126"/>
                    <a:pt x="0" y="1143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F172A"/>
            </a:solidFill>
            <a:ln w="9525">
              <a:solidFill>
                <a:srgbClr val="24304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76600" y="1676400"/>
              <a:ext cx="2438400" cy="1257300"/>
            </a:xfrm>
            <a:custGeom>
              <a:avLst/>
              <a:gdLst/>
              <a:ahLst/>
              <a:cxnLst/>
              <a:rect l="l" t="t" r="r" b="b"/>
              <a:pathLst>
                <a:path w="2438400" h="1257300">
                  <a:moveTo>
                    <a:pt x="114300" y="0"/>
                  </a:moveTo>
                  <a:lnTo>
                    <a:pt x="2324100" y="0"/>
                  </a:lnTo>
                  <a:cubicBezTo>
                    <a:pt x="2387226" y="0"/>
                    <a:pt x="2438400" y="51174"/>
                    <a:pt x="2438400" y="114300"/>
                  </a:cubicBezTo>
                  <a:lnTo>
                    <a:pt x="2438400" y="1143000"/>
                  </a:lnTo>
                  <a:cubicBezTo>
                    <a:pt x="2438400" y="1206126"/>
                    <a:pt x="2387226" y="1257300"/>
                    <a:pt x="2324100" y="1257300"/>
                  </a:cubicBezTo>
                  <a:lnTo>
                    <a:pt x="114300" y="1257300"/>
                  </a:lnTo>
                  <a:cubicBezTo>
                    <a:pt x="51174" y="1257300"/>
                    <a:pt x="0" y="1206126"/>
                    <a:pt x="0" y="1143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F172A"/>
            </a:solidFill>
            <a:ln w="9525">
              <a:solidFill>
                <a:srgbClr val="24304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943600" y="1676400"/>
              <a:ext cx="2438400" cy="1257300"/>
            </a:xfrm>
            <a:custGeom>
              <a:avLst/>
              <a:gdLst/>
              <a:ahLst/>
              <a:cxnLst/>
              <a:rect l="l" t="t" r="r" b="b"/>
              <a:pathLst>
                <a:path w="2438400" h="1257300">
                  <a:moveTo>
                    <a:pt x="114300" y="0"/>
                  </a:moveTo>
                  <a:lnTo>
                    <a:pt x="2324100" y="0"/>
                  </a:lnTo>
                  <a:cubicBezTo>
                    <a:pt x="2387226" y="0"/>
                    <a:pt x="2438400" y="51174"/>
                    <a:pt x="2438400" y="114300"/>
                  </a:cubicBezTo>
                  <a:lnTo>
                    <a:pt x="2438400" y="1143000"/>
                  </a:lnTo>
                  <a:cubicBezTo>
                    <a:pt x="2438400" y="1206126"/>
                    <a:pt x="2387226" y="1257300"/>
                    <a:pt x="2324100" y="1257300"/>
                  </a:cubicBezTo>
                  <a:lnTo>
                    <a:pt x="114300" y="1257300"/>
                  </a:lnTo>
                  <a:cubicBezTo>
                    <a:pt x="51174" y="1257300"/>
                    <a:pt x="0" y="1206126"/>
                    <a:pt x="0" y="1143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F172A"/>
            </a:solidFill>
            <a:ln w="9525">
              <a:solidFill>
                <a:srgbClr val="24304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610600" y="1676400"/>
              <a:ext cx="2438400" cy="1257300"/>
            </a:xfrm>
            <a:custGeom>
              <a:avLst/>
              <a:gdLst/>
              <a:ahLst/>
              <a:cxnLst/>
              <a:rect l="l" t="t" r="r" b="b"/>
              <a:pathLst>
                <a:path w="2438400" h="1257300">
                  <a:moveTo>
                    <a:pt x="114300" y="0"/>
                  </a:moveTo>
                  <a:lnTo>
                    <a:pt x="2324100" y="0"/>
                  </a:lnTo>
                  <a:cubicBezTo>
                    <a:pt x="2387226" y="0"/>
                    <a:pt x="2438400" y="51174"/>
                    <a:pt x="2438400" y="114300"/>
                  </a:cubicBezTo>
                  <a:lnTo>
                    <a:pt x="2438400" y="1143000"/>
                  </a:lnTo>
                  <a:cubicBezTo>
                    <a:pt x="2438400" y="1206126"/>
                    <a:pt x="2387226" y="1257300"/>
                    <a:pt x="2324100" y="1257300"/>
                  </a:cubicBezTo>
                  <a:lnTo>
                    <a:pt x="114300" y="1257300"/>
                  </a:lnTo>
                  <a:cubicBezTo>
                    <a:pt x="51174" y="1257300"/>
                    <a:pt x="0" y="1206126"/>
                    <a:pt x="0" y="1143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F172A"/>
            </a:solidFill>
            <a:ln w="9525">
              <a:solidFill>
                <a:srgbClr val="24304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2965" y="19821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误报率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6295" y="2231708"/>
              <a:ext cx="114274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34D399"/>
                  </a:solidFill>
                  <a:latin typeface="Arial"/>
                  <a:ea typeface="Microsoft YaHei"/>
                  <a:cs typeface="Arial"/>
                </a:rPr>
                <a:t>0.4%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29965" y="1982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过度主动拦截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03295" y="2231708"/>
              <a:ext cx="8770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83%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96965" y="1982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平均延迟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70295" y="2231708"/>
              <a:ext cx="56307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2D3EE"/>
                  </a:solidFill>
                  <a:latin typeface="Arial"/>
                  <a:ea typeface="Microsoft YaHei"/>
                  <a:cs typeface="Arial"/>
                </a:rPr>
                <a:t>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63965" y="1982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权限层级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37295" y="2231708"/>
              <a:ext cx="345693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58A6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609600" y="3276600"/>
            <a:ext cx="5143500" cy="2152650"/>
          </a:xfrm>
          <a:custGeom>
            <a:avLst/>
            <a:gdLst/>
            <a:ahLst/>
            <a:cxnLst/>
            <a:rect l="l" t="t" r="r" b="b"/>
            <a:pathLst>
              <a:path w="5143500" h="21526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2038350"/>
                </a:lnTo>
                <a:cubicBezTo>
                  <a:pt x="5143500" y="2101476"/>
                  <a:pt x="5092326" y="2152650"/>
                  <a:pt x="5029200" y="2152650"/>
                </a:cubicBezTo>
                <a:lnTo>
                  <a:pt x="114300" y="2152650"/>
                </a:lnTo>
                <a:cubicBezTo>
                  <a:pt x="51174" y="2152650"/>
                  <a:pt x="0" y="2101476"/>
                  <a:pt x="0" y="20383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95350" y="35718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风险动作趋势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52500" y="3962400"/>
            <a:ext cx="4381500" cy="1076325"/>
            <a:chOff x="952500" y="3962400"/>
            <a:chExt cx="4381500" cy="1076325"/>
          </a:xfrm>
        </p:grpSpPr>
        <p:sp>
          <p:nvSpPr>
            <p:cNvPr id="23" name="Line 23"/>
            <p:cNvSpPr/>
            <p:nvPr/>
          </p:nvSpPr>
          <p:spPr>
            <a:xfrm>
              <a:off x="952500" y="50292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243044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52500" y="44958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24304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52500" y="39624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243044"/>
              </a:solidFill>
            </a:ln>
          </p:spPr>
        </p:sp>
      </p:grpSp>
      <p:sp>
        <p:nvSpPr>
          <p:cNvPr id="27" name="Polyline 27"/>
          <p:cNvSpPr/>
          <p:nvPr/>
        </p:nvSpPr>
        <p:spPr>
          <a:xfrm>
            <a:off x="1047750" y="3657600"/>
            <a:ext cx="4095750" cy="1219200"/>
          </a:xfrm>
          <a:custGeom>
            <a:avLst/>
            <a:gdLst/>
            <a:ahLst/>
            <a:cxnLst/>
            <a:rect l="l" t="t" r="r" b="b"/>
            <a:pathLst>
              <a:path w="4095750" h="1219200">
                <a:moveTo>
                  <a:pt x="0" y="1219200"/>
                </a:moveTo>
                <a:lnTo>
                  <a:pt x="666750" y="971550"/>
                </a:lnTo>
                <a:lnTo>
                  <a:pt x="1333500" y="1085850"/>
                </a:lnTo>
                <a:lnTo>
                  <a:pt x="2000250" y="590550"/>
                </a:lnTo>
                <a:lnTo>
                  <a:pt x="2667000" y="685800"/>
                </a:lnTo>
                <a:lnTo>
                  <a:pt x="3333750" y="228600"/>
                </a:lnTo>
                <a:lnTo>
                  <a:pt x="4095750" y="0"/>
                </a:lnTo>
              </a:path>
            </a:pathLst>
          </a:custGeom>
          <a:noFill/>
          <a:ln w="38100">
            <a:solidFill>
              <a:srgbClr val="22D3EE"/>
            </a:solidFill>
          </a:ln>
        </p:spPr>
      </p:sp>
      <p:sp>
        <p:nvSpPr>
          <p:cNvPr id="28" name="Polyline 28"/>
          <p:cNvSpPr/>
          <p:nvPr/>
        </p:nvSpPr>
        <p:spPr>
          <a:xfrm>
            <a:off x="1047750" y="3676650"/>
            <a:ext cx="4095750" cy="609600"/>
          </a:xfrm>
          <a:custGeom>
            <a:avLst/>
            <a:gdLst/>
            <a:ahLst/>
            <a:cxnLst/>
            <a:rect l="l" t="t" r="r" b="b"/>
            <a:pathLst>
              <a:path w="4095750" h="609600">
                <a:moveTo>
                  <a:pt x="0" y="609600"/>
                </a:moveTo>
                <a:lnTo>
                  <a:pt x="666750" y="495300"/>
                </a:lnTo>
                <a:lnTo>
                  <a:pt x="1333500" y="419100"/>
                </a:lnTo>
                <a:lnTo>
                  <a:pt x="2000250" y="304800"/>
                </a:lnTo>
                <a:lnTo>
                  <a:pt x="2667000" y="171450"/>
                </a:lnTo>
                <a:lnTo>
                  <a:pt x="3333750" y="114300"/>
                </a:lnTo>
                <a:lnTo>
                  <a:pt x="4095750" y="0"/>
                </a:lnTo>
              </a:path>
            </a:pathLst>
          </a:custGeom>
          <a:noFill/>
          <a:ln w="28575">
            <a:solidFill>
              <a:srgbClr val="58A6FF">
                <a:alpha val="70000"/>
              </a:srgbClr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1000125" y="3609975"/>
            <a:ext cx="4191000" cy="1314450"/>
            <a:chOff x="1000125" y="3609975"/>
            <a:chExt cx="4191000" cy="1314450"/>
          </a:xfrm>
        </p:grpSpPr>
        <p:sp>
          <p:nvSpPr>
            <p:cNvPr id="29" name="Ellipse 29"/>
            <p:cNvSpPr/>
            <p:nvPr/>
          </p:nvSpPr>
          <p:spPr>
            <a:xfrm>
              <a:off x="1000125" y="4829175"/>
              <a:ext cx="95250" cy="9525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666875" y="4581525"/>
              <a:ext cx="95250" cy="9525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333625" y="4695825"/>
              <a:ext cx="95250" cy="9525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000375" y="4200525"/>
              <a:ext cx="95250" cy="9525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667125" y="4295775"/>
              <a:ext cx="95250" cy="9525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333875" y="3838575"/>
              <a:ext cx="95250" cy="9525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095875" y="3609975"/>
              <a:ext cx="95250" cy="95250"/>
            </a:xfrm>
            <a:prstGeom prst="ellipse">
              <a:avLst/>
            </a:prstGeom>
            <a:solidFill>
              <a:srgbClr val="22D3EE"/>
            </a:solidFill>
            <a:ln>
              <a:noFill/>
            </a:ln>
          </p:spPr>
        </p:sp>
      </p:grpSp>
      <p:sp>
        <p:nvSpPr>
          <p:cNvPr id="37" name="Freeform 37"/>
          <p:cNvSpPr/>
          <p:nvPr/>
        </p:nvSpPr>
        <p:spPr>
          <a:xfrm>
            <a:off x="6134100" y="3276600"/>
            <a:ext cx="4914900" cy="2152650"/>
          </a:xfrm>
          <a:custGeom>
            <a:avLst/>
            <a:gdLst/>
            <a:ahLst/>
            <a:cxnLst/>
            <a:rect l="l" t="t" r="r" b="b"/>
            <a:pathLst>
              <a:path w="4914900" h="2152650">
                <a:moveTo>
                  <a:pt x="114300" y="0"/>
                </a:moveTo>
                <a:lnTo>
                  <a:pt x="4800600" y="0"/>
                </a:lnTo>
                <a:cubicBezTo>
                  <a:pt x="4863726" y="0"/>
                  <a:pt x="4914900" y="51174"/>
                  <a:pt x="4914900" y="114300"/>
                </a:cubicBezTo>
                <a:lnTo>
                  <a:pt x="4914900" y="2038350"/>
                </a:lnTo>
                <a:cubicBezTo>
                  <a:pt x="4914900" y="2101476"/>
                  <a:pt x="4863726" y="2152650"/>
                  <a:pt x="4800600" y="2152650"/>
                </a:cubicBezTo>
                <a:lnTo>
                  <a:pt x="114300" y="2152650"/>
                </a:lnTo>
                <a:cubicBezTo>
                  <a:pt x="51174" y="2152650"/>
                  <a:pt x="0" y="2101476"/>
                  <a:pt x="0" y="20383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419850" y="357187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权限分层状态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6477000" y="4038600"/>
            <a:ext cx="4952047" cy="1243012"/>
            <a:chOff x="6477000" y="4038600"/>
            <a:chExt cx="4952047" cy="1243012"/>
          </a:xfrm>
        </p:grpSpPr>
        <p:sp>
          <p:nvSpPr>
            <p:cNvPr id="39" name="Freeform 39"/>
            <p:cNvSpPr/>
            <p:nvPr/>
          </p:nvSpPr>
          <p:spPr>
            <a:xfrm>
              <a:off x="6477000" y="4038600"/>
              <a:ext cx="4000500" cy="266700"/>
            </a:xfrm>
            <a:custGeom>
              <a:avLst/>
              <a:gdLst/>
              <a:ahLst/>
              <a:cxnLst/>
              <a:rect l="l" t="t" r="r" b="b"/>
              <a:pathLst>
                <a:path w="4000500" h="266700">
                  <a:moveTo>
                    <a:pt x="47625" y="0"/>
                  </a:moveTo>
                  <a:lnTo>
                    <a:pt x="3952875" y="0"/>
                  </a:lnTo>
                  <a:cubicBezTo>
                    <a:pt x="3979178" y="0"/>
                    <a:pt x="4000500" y="21322"/>
                    <a:pt x="4000500" y="47625"/>
                  </a:cubicBezTo>
                  <a:lnTo>
                    <a:pt x="4000500" y="219075"/>
                  </a:lnTo>
                  <a:cubicBezTo>
                    <a:pt x="4000500" y="245378"/>
                    <a:pt x="3979178" y="266700"/>
                    <a:pt x="3952875" y="266700"/>
                  </a:cubicBezTo>
                  <a:lnTo>
                    <a:pt x="47625" y="266700"/>
                  </a:lnTo>
                  <a:cubicBezTo>
                    <a:pt x="21322" y="266700"/>
                    <a:pt x="0" y="245378"/>
                    <a:pt x="0" y="2190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11182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6477000" y="4038600"/>
              <a:ext cx="3619500" cy="266700"/>
            </a:xfrm>
            <a:custGeom>
              <a:avLst/>
              <a:gdLst/>
              <a:ahLst/>
              <a:cxnLst/>
              <a:rect l="l" t="t" r="r" b="b"/>
              <a:pathLst>
                <a:path w="3619500" h="266700">
                  <a:moveTo>
                    <a:pt x="47625" y="0"/>
                  </a:moveTo>
                  <a:lnTo>
                    <a:pt x="3571875" y="0"/>
                  </a:lnTo>
                  <a:cubicBezTo>
                    <a:pt x="3598178" y="0"/>
                    <a:pt x="3619500" y="21322"/>
                    <a:pt x="3619500" y="47625"/>
                  </a:cubicBezTo>
                  <a:lnTo>
                    <a:pt x="3619500" y="219075"/>
                  </a:lnTo>
                  <a:cubicBezTo>
                    <a:pt x="3619500" y="245378"/>
                    <a:pt x="3598178" y="266700"/>
                    <a:pt x="3571875" y="266700"/>
                  </a:cubicBezTo>
                  <a:lnTo>
                    <a:pt x="47625" y="266700"/>
                  </a:lnTo>
                  <a:cubicBezTo>
                    <a:pt x="21322" y="266700"/>
                    <a:pt x="0" y="245378"/>
                    <a:pt x="0" y="2190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34D39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35615" y="41157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安全读取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77000" y="4514850"/>
              <a:ext cx="4000500" cy="266700"/>
            </a:xfrm>
            <a:custGeom>
              <a:avLst/>
              <a:gdLst/>
              <a:ahLst/>
              <a:cxnLst/>
              <a:rect l="l" t="t" r="r" b="b"/>
              <a:pathLst>
                <a:path w="4000500" h="266700">
                  <a:moveTo>
                    <a:pt x="47625" y="0"/>
                  </a:moveTo>
                  <a:lnTo>
                    <a:pt x="3952875" y="0"/>
                  </a:lnTo>
                  <a:cubicBezTo>
                    <a:pt x="3979178" y="0"/>
                    <a:pt x="4000500" y="21322"/>
                    <a:pt x="4000500" y="47625"/>
                  </a:cubicBezTo>
                  <a:lnTo>
                    <a:pt x="4000500" y="219075"/>
                  </a:lnTo>
                  <a:cubicBezTo>
                    <a:pt x="4000500" y="245378"/>
                    <a:pt x="3979178" y="266700"/>
                    <a:pt x="3952875" y="266700"/>
                  </a:cubicBezTo>
                  <a:lnTo>
                    <a:pt x="47625" y="266700"/>
                  </a:lnTo>
                  <a:cubicBezTo>
                    <a:pt x="21322" y="266700"/>
                    <a:pt x="0" y="245378"/>
                    <a:pt x="0" y="2190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11182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477000" y="4514850"/>
              <a:ext cx="2781300" cy="266700"/>
            </a:xfrm>
            <a:custGeom>
              <a:avLst/>
              <a:gdLst/>
              <a:ahLst/>
              <a:cxnLst/>
              <a:rect l="l" t="t" r="r" b="b"/>
              <a:pathLst>
                <a:path w="2781300" h="266700">
                  <a:moveTo>
                    <a:pt x="47625" y="0"/>
                  </a:moveTo>
                  <a:lnTo>
                    <a:pt x="2733675" y="0"/>
                  </a:lnTo>
                  <a:cubicBezTo>
                    <a:pt x="2759978" y="0"/>
                    <a:pt x="2781300" y="21322"/>
                    <a:pt x="2781300" y="47625"/>
                  </a:cubicBezTo>
                  <a:lnTo>
                    <a:pt x="2781300" y="219075"/>
                  </a:lnTo>
                  <a:cubicBezTo>
                    <a:pt x="2781300" y="245378"/>
                    <a:pt x="2759978" y="266700"/>
                    <a:pt x="2733675" y="266700"/>
                  </a:cubicBezTo>
                  <a:lnTo>
                    <a:pt x="47625" y="266700"/>
                  </a:lnTo>
                  <a:cubicBezTo>
                    <a:pt x="21322" y="266700"/>
                    <a:pt x="0" y="245378"/>
                    <a:pt x="0" y="2190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58A6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635615" y="45920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项目内编辑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477000" y="4991100"/>
              <a:ext cx="4000500" cy="266700"/>
            </a:xfrm>
            <a:custGeom>
              <a:avLst/>
              <a:gdLst/>
              <a:ahLst/>
              <a:cxnLst/>
              <a:rect l="l" t="t" r="r" b="b"/>
              <a:pathLst>
                <a:path w="4000500" h="266700">
                  <a:moveTo>
                    <a:pt x="47625" y="0"/>
                  </a:moveTo>
                  <a:lnTo>
                    <a:pt x="3952875" y="0"/>
                  </a:lnTo>
                  <a:cubicBezTo>
                    <a:pt x="3979178" y="0"/>
                    <a:pt x="4000500" y="21322"/>
                    <a:pt x="4000500" y="47625"/>
                  </a:cubicBezTo>
                  <a:lnTo>
                    <a:pt x="4000500" y="219075"/>
                  </a:lnTo>
                  <a:cubicBezTo>
                    <a:pt x="4000500" y="245378"/>
                    <a:pt x="3979178" y="266700"/>
                    <a:pt x="3952875" y="266700"/>
                  </a:cubicBezTo>
                  <a:lnTo>
                    <a:pt x="47625" y="266700"/>
                  </a:lnTo>
                  <a:cubicBezTo>
                    <a:pt x="21322" y="266700"/>
                    <a:pt x="0" y="245378"/>
                    <a:pt x="0" y="2190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11182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477000" y="4991100"/>
              <a:ext cx="1162050" cy="266700"/>
            </a:xfrm>
            <a:custGeom>
              <a:avLst/>
              <a:gdLst/>
              <a:ahLst/>
              <a:cxnLst/>
              <a:rect l="l" t="t" r="r" b="b"/>
              <a:pathLst>
                <a:path w="1162050" h="266700">
                  <a:moveTo>
                    <a:pt x="47625" y="0"/>
                  </a:moveTo>
                  <a:lnTo>
                    <a:pt x="1114425" y="0"/>
                  </a:lnTo>
                  <a:cubicBezTo>
                    <a:pt x="1140728" y="0"/>
                    <a:pt x="1162050" y="21322"/>
                    <a:pt x="1162050" y="47625"/>
                  </a:cubicBezTo>
                  <a:lnTo>
                    <a:pt x="1162050" y="219075"/>
                  </a:lnTo>
                  <a:cubicBezTo>
                    <a:pt x="1162050" y="245378"/>
                    <a:pt x="1140728" y="266700"/>
                    <a:pt x="1114425" y="266700"/>
                  </a:cubicBezTo>
                  <a:lnTo>
                    <a:pt x="47625" y="266700"/>
                  </a:lnTo>
                  <a:cubicBezTo>
                    <a:pt x="21322" y="266700"/>
                    <a:pt x="0" y="245378"/>
                    <a:pt x="0" y="2190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635615" y="50682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BB4"/>
                  </a:solidFill>
                  <a:latin typeface="Arial"/>
                  <a:ea typeface="Microsoft YaHei"/>
                  <a:cs typeface="Arial"/>
                </a:rPr>
                <a:t>外部动作</a:t>
              </a:r>
            </a:p>
          </p:txBody>
        </p:sp>
      </p:grpSp>
      <p:sp>
        <p:nvSpPr>
          <p:cNvPr id="49" name="Line 49"/>
          <p:cNvSpPr/>
          <p:nvPr/>
        </p:nvSpPr>
        <p:spPr>
          <a:xfrm>
            <a:off x="533400" y="6096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24304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523875" y="6376988"/>
            <a:ext cx="1788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Source: template preview sample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502580" y="636079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76200"/>
            <a:ext cx="12192000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238250" y="1485900"/>
            <a:ext cx="9715500" cy="3514725"/>
            <a:chOff x="1238250" y="1485900"/>
            <a:chExt cx="9715500" cy="3514725"/>
          </a:xfrm>
        </p:grpSpPr>
        <p:sp>
          <p:nvSpPr>
            <p:cNvPr id="5" name="Line 5"/>
            <p:cNvSpPr/>
            <p:nvPr/>
          </p:nvSpPr>
          <p:spPr>
            <a:xfrm>
              <a:off x="1238250" y="14859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243044">
                  <a:alpha val="5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238250" y="23622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243044">
                  <a:alpha val="5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238250" y="3238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243044">
                  <a:alpha val="5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238250" y="41148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243044">
                  <a:alpha val="5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238250" y="49911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243044">
                  <a:alpha val="55000"/>
                </a:srgbClr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2461832" y="1649730"/>
            <a:ext cx="726833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适合工程化深潜的可编辑模板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21716" y="2363629"/>
            <a:ext cx="454856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系统架构 · AI 安全 · 风险评审 · 开发者分享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2952750"/>
            <a:ext cx="4000500" cy="9525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28575">
            <a:solidFill>
              <a:srgbClr val="22D3EE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2095500" y="3524250"/>
            <a:ext cx="2381250" cy="990600"/>
          </a:xfrm>
          <a:custGeom>
            <a:avLst/>
            <a:gdLst/>
            <a:ahLst/>
            <a:cxnLst/>
            <a:rect l="l" t="t" r="r" b="b"/>
            <a:pathLst>
              <a:path w="2381250" h="990600">
                <a:moveTo>
                  <a:pt x="114300" y="0"/>
                </a:moveTo>
                <a:lnTo>
                  <a:pt x="2266950" y="0"/>
                </a:lnTo>
                <a:cubicBezTo>
                  <a:pt x="2330076" y="0"/>
                  <a:pt x="2381250" y="51174"/>
                  <a:pt x="2381250" y="114300"/>
                </a:cubicBezTo>
                <a:lnTo>
                  <a:pt x="2381250" y="876300"/>
                </a:lnTo>
                <a:cubicBezTo>
                  <a:pt x="2381250" y="939426"/>
                  <a:pt x="2330076" y="990600"/>
                  <a:pt x="2266950" y="990600"/>
                </a:cubicBezTo>
                <a:lnTo>
                  <a:pt x="114300" y="990600"/>
                </a:lnTo>
                <a:cubicBezTo>
                  <a:pt x="51174" y="990600"/>
                  <a:pt x="0" y="939426"/>
                  <a:pt x="0" y="876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4905375" y="3524250"/>
            <a:ext cx="2381250" cy="990600"/>
          </a:xfrm>
          <a:custGeom>
            <a:avLst/>
            <a:gdLst/>
            <a:ahLst/>
            <a:cxnLst/>
            <a:rect l="l" t="t" r="r" b="b"/>
            <a:pathLst>
              <a:path w="2381250" h="990600">
                <a:moveTo>
                  <a:pt x="114300" y="0"/>
                </a:moveTo>
                <a:lnTo>
                  <a:pt x="2266950" y="0"/>
                </a:lnTo>
                <a:cubicBezTo>
                  <a:pt x="2330076" y="0"/>
                  <a:pt x="2381250" y="51174"/>
                  <a:pt x="2381250" y="114300"/>
                </a:cubicBezTo>
                <a:lnTo>
                  <a:pt x="2381250" y="876300"/>
                </a:lnTo>
                <a:cubicBezTo>
                  <a:pt x="2381250" y="939426"/>
                  <a:pt x="2330076" y="990600"/>
                  <a:pt x="2266950" y="990600"/>
                </a:cubicBezTo>
                <a:lnTo>
                  <a:pt x="114300" y="990600"/>
                </a:lnTo>
                <a:cubicBezTo>
                  <a:pt x="51174" y="990600"/>
                  <a:pt x="0" y="939426"/>
                  <a:pt x="0" y="876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7715250" y="3524250"/>
            <a:ext cx="2381250" cy="990600"/>
          </a:xfrm>
          <a:custGeom>
            <a:avLst/>
            <a:gdLst/>
            <a:ahLst/>
            <a:cxnLst/>
            <a:rect l="l" t="t" r="r" b="b"/>
            <a:pathLst>
              <a:path w="2381250" h="990600">
                <a:moveTo>
                  <a:pt x="114300" y="0"/>
                </a:moveTo>
                <a:lnTo>
                  <a:pt x="2266950" y="0"/>
                </a:lnTo>
                <a:cubicBezTo>
                  <a:pt x="2330076" y="0"/>
                  <a:pt x="2381250" y="51174"/>
                  <a:pt x="2381250" y="114300"/>
                </a:cubicBezTo>
                <a:lnTo>
                  <a:pt x="2381250" y="876300"/>
                </a:lnTo>
                <a:cubicBezTo>
                  <a:pt x="2381250" y="939426"/>
                  <a:pt x="2330076" y="990600"/>
                  <a:pt x="2266950" y="990600"/>
                </a:cubicBezTo>
                <a:lnTo>
                  <a:pt x="114300" y="990600"/>
                </a:lnTo>
                <a:cubicBezTo>
                  <a:pt x="51174" y="990600"/>
                  <a:pt x="0" y="939426"/>
                  <a:pt x="0" y="876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172A"/>
          </a:solidFill>
          <a:ln w="9525">
            <a:solidFill>
              <a:srgbClr val="243044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2958441" y="37785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可复用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68316" y="37785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58A6FF"/>
                </a:solidFill>
                <a:latin typeface="Arial"/>
                <a:ea typeface="Microsoft YaHei"/>
                <a:cs typeface="Arial"/>
              </a:rPr>
              <a:t>可编辑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8191" y="37785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可扩展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05110" y="4161949"/>
            <a:ext cx="1762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作为 layouts 模板点名调用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82625" y="4161949"/>
            <a:ext cx="16267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最终页面由 SVG 元素构成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10299" y="41619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可继续增加专用图表模块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52011" y="5563552"/>
            <a:ext cx="2487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9BB4"/>
                </a:solidFill>
                <a:latin typeface="Arial"/>
                <a:ea typeface="Microsoft YaHei"/>
                <a:cs typeface="Arial"/>
              </a:rPr>
              <a:t>Template ID: dark_ai_engineering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84102" y="5928360"/>
            <a:ext cx="1423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Fork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